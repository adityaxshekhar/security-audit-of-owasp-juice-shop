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59" r:id="rId6"/>
    <p:sldId id="268"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3409F-201B-794A-33F2-C8AB09DFE1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82E67A-44A7-11F3-0F0C-6BC35171EB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591AC7-AED2-292B-2322-28C2E6BE00E7}"/>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5" name="Footer Placeholder 4">
            <a:extLst>
              <a:ext uri="{FF2B5EF4-FFF2-40B4-BE49-F238E27FC236}">
                <a16:creationId xmlns:a16="http://schemas.microsoft.com/office/drawing/2014/main" id="{59C6A403-F1FF-2756-7EC6-20FE062359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169814-B108-99C8-724D-C790807ADDA3}"/>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2124274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B66D6-6545-D057-D2B6-E682D3D5E2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36E441-E1A4-8208-D829-83B559E1D1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636051-465D-AAEC-2C00-DFC31552E47D}"/>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5" name="Footer Placeholder 4">
            <a:extLst>
              <a:ext uri="{FF2B5EF4-FFF2-40B4-BE49-F238E27FC236}">
                <a16:creationId xmlns:a16="http://schemas.microsoft.com/office/drawing/2014/main" id="{84733DF0-49DD-196B-18F4-92A8334792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83DEC7-5C5C-7840-223D-2797B7BF7D30}"/>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2976096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4D821-D277-C2AD-BE3F-97482C3853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3942A0-12C7-EF27-55B5-01A4614A8E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557D1B-72E8-8EBA-F78C-9A76492D03E8}"/>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5" name="Footer Placeholder 4">
            <a:extLst>
              <a:ext uri="{FF2B5EF4-FFF2-40B4-BE49-F238E27FC236}">
                <a16:creationId xmlns:a16="http://schemas.microsoft.com/office/drawing/2014/main" id="{5D2EF21C-96D9-C32A-A614-4040D30756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011FEC-F9C2-DBF5-32FA-14EC3D5BD496}"/>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1059348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78E9-CF0C-D3D6-6F7F-0CE2CE8275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109FCC-6572-D093-5A70-95FAE2283F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341545-A311-7945-5950-A1664D7D77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7FDD4B-214E-912F-A144-DDD3401831F3}"/>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6" name="Footer Placeholder 5">
            <a:extLst>
              <a:ext uri="{FF2B5EF4-FFF2-40B4-BE49-F238E27FC236}">
                <a16:creationId xmlns:a16="http://schemas.microsoft.com/office/drawing/2014/main" id="{3ABEA385-733A-2EC6-D798-9F95022FB9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76E9D-E322-E14E-A06E-74BF7F1675B8}"/>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3848757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52F84-BE2D-2DEA-92C4-940523D5E8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B961E7-ED9F-E20A-A550-B344F5D470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A4592A-8A32-E61F-4AC0-831A1983DF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BBB1F3-601F-31F0-7663-098E34589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39F36B-2BFA-B7E0-1F9C-F589E32F85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F3BD39C-D1F6-9E7B-CAD3-568CC70C10FD}"/>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8" name="Footer Placeholder 7">
            <a:extLst>
              <a:ext uri="{FF2B5EF4-FFF2-40B4-BE49-F238E27FC236}">
                <a16:creationId xmlns:a16="http://schemas.microsoft.com/office/drawing/2014/main" id="{1FB1FBA9-817A-E434-049A-2AEF1787FA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E1EA1A-A99F-6F09-98B0-A81F74810F2A}"/>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1293576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19DC-BC80-E702-A8B0-51C00A2EFB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B6203C-FECF-3D51-B671-C7F9D346A1FB}"/>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4" name="Footer Placeholder 3">
            <a:extLst>
              <a:ext uri="{FF2B5EF4-FFF2-40B4-BE49-F238E27FC236}">
                <a16:creationId xmlns:a16="http://schemas.microsoft.com/office/drawing/2014/main" id="{FC17C78E-9D51-C7F8-2CB8-D1B9588E65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8D4F30-9EB9-73AB-94C2-F5117CFDE551}"/>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126022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A54AE4-380A-E95A-17F1-A3A2666CF8EE}"/>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3" name="Footer Placeholder 2">
            <a:extLst>
              <a:ext uri="{FF2B5EF4-FFF2-40B4-BE49-F238E27FC236}">
                <a16:creationId xmlns:a16="http://schemas.microsoft.com/office/drawing/2014/main" id="{8FA73441-3890-47D5-2381-EF5CA1A43A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5F8491-71AD-1CA9-3223-B413E113D932}"/>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3385874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0C57-827C-5326-80C2-C15500399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853531-1990-344E-7D4C-D2FDD579BE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89D38B-FB9A-3D3C-784A-73EE14937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2048C0-91A5-ACEB-EBB4-F1F0BECB0F0C}"/>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6" name="Footer Placeholder 5">
            <a:extLst>
              <a:ext uri="{FF2B5EF4-FFF2-40B4-BE49-F238E27FC236}">
                <a16:creationId xmlns:a16="http://schemas.microsoft.com/office/drawing/2014/main" id="{62ACF416-6D16-0E25-FBE9-8982832E7A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AFFE84-9218-6D96-0304-F7982B265D33}"/>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2459993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C0652-7AD0-A39C-DD7F-0A8018D135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AA3F3C-77E6-1AD4-8522-78A5EF2EAB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33D222-2914-919F-0EBD-1B354ABCF7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E9FC6D-E60B-8385-48A2-D254A9F61546}"/>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6" name="Footer Placeholder 5">
            <a:extLst>
              <a:ext uri="{FF2B5EF4-FFF2-40B4-BE49-F238E27FC236}">
                <a16:creationId xmlns:a16="http://schemas.microsoft.com/office/drawing/2014/main" id="{F43E15EC-5FCD-5BCA-F28F-40D1681D0D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6AD5D5-9F3B-A3D4-9C4D-02211A4E7D6D}"/>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124806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2F1CD-95E8-1BC4-D061-8F70861A92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DF544D-911C-38A0-1BD4-249AE1267B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5617AF-214B-D9AA-E869-6C0C2E5CCE8A}"/>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5" name="Footer Placeholder 4">
            <a:extLst>
              <a:ext uri="{FF2B5EF4-FFF2-40B4-BE49-F238E27FC236}">
                <a16:creationId xmlns:a16="http://schemas.microsoft.com/office/drawing/2014/main" id="{063AF95D-8667-78BA-B3E1-CAAE1718D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ED5F68-002C-8647-D5CA-EFC313557D83}"/>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2930411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AD060B-9ECB-8630-AE91-1163ABB796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31A596-7AE1-D3A8-B001-FC2FCF7CA7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B51E20-C50F-3371-13B2-F233951EF288}"/>
              </a:ext>
            </a:extLst>
          </p:cNvPr>
          <p:cNvSpPr>
            <a:spLocks noGrp="1"/>
          </p:cNvSpPr>
          <p:nvPr>
            <p:ph type="dt" sz="half" idx="10"/>
          </p:nvPr>
        </p:nvSpPr>
        <p:spPr/>
        <p:txBody>
          <a:bodyPr/>
          <a:lstStyle/>
          <a:p>
            <a:fld id="{FCC3C016-F706-4BE0-8B58-DEB655614F97}" type="datetimeFigureOut">
              <a:rPr lang="en-IN" smtClean="0"/>
              <a:t>30-07-2026</a:t>
            </a:fld>
            <a:endParaRPr lang="en-IN"/>
          </a:p>
        </p:txBody>
      </p:sp>
      <p:sp>
        <p:nvSpPr>
          <p:cNvPr id="5" name="Footer Placeholder 4">
            <a:extLst>
              <a:ext uri="{FF2B5EF4-FFF2-40B4-BE49-F238E27FC236}">
                <a16:creationId xmlns:a16="http://schemas.microsoft.com/office/drawing/2014/main" id="{A5EE7A86-0879-4D74-CE52-0D198E9818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984BE4-EFE3-70D9-A518-A25331EDEB2D}"/>
              </a:ext>
            </a:extLst>
          </p:cNvPr>
          <p:cNvSpPr>
            <a:spLocks noGrp="1"/>
          </p:cNvSpPr>
          <p:nvPr>
            <p:ph type="sldNum" sz="quarter" idx="12"/>
          </p:nvPr>
        </p:nvSpPr>
        <p:spPr/>
        <p:txBody>
          <a:bodyPr/>
          <a:lstStyle/>
          <a:p>
            <a:fld id="{5BF5C866-6068-4350-898A-22AFB4BEFAD4}" type="slidenum">
              <a:rPr lang="en-IN" smtClean="0"/>
              <a:t>‹#›</a:t>
            </a:fld>
            <a:endParaRPr lang="en-IN"/>
          </a:p>
        </p:txBody>
      </p:sp>
    </p:spTree>
    <p:extLst>
      <p:ext uri="{BB962C8B-B14F-4D97-AF65-F5344CB8AC3E}">
        <p14:creationId xmlns:p14="http://schemas.microsoft.com/office/powerpoint/2010/main" val="3591474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36014F-54C7-E714-F44E-16520E651C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6EE6AF-AAC8-2CEB-BA4A-2E3A24334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E627A-81F7-80DB-A5B1-F31A685E5F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C3C016-F706-4BE0-8B58-DEB655614F97}" type="datetimeFigureOut">
              <a:rPr lang="en-IN" smtClean="0"/>
              <a:t>30-07-2026</a:t>
            </a:fld>
            <a:endParaRPr lang="en-IN"/>
          </a:p>
        </p:txBody>
      </p:sp>
      <p:sp>
        <p:nvSpPr>
          <p:cNvPr id="5" name="Footer Placeholder 4">
            <a:extLst>
              <a:ext uri="{FF2B5EF4-FFF2-40B4-BE49-F238E27FC236}">
                <a16:creationId xmlns:a16="http://schemas.microsoft.com/office/drawing/2014/main" id="{9FBA3D44-99AE-F78B-A6D1-6EB38ADDF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804F122-D343-2C8F-DCDE-8EEB74513F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F5C866-6068-4350-898A-22AFB4BEFAD4}" type="slidenum">
              <a:rPr lang="en-IN" smtClean="0"/>
              <a:t>‹#›</a:t>
            </a:fld>
            <a:endParaRPr lang="en-IN"/>
          </a:p>
        </p:txBody>
      </p:sp>
    </p:spTree>
    <p:extLst>
      <p:ext uri="{BB962C8B-B14F-4D97-AF65-F5344CB8AC3E}">
        <p14:creationId xmlns:p14="http://schemas.microsoft.com/office/powerpoint/2010/main" val="3931838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797D3-4881-9DC4-BC06-B48FE778BF97}"/>
              </a:ext>
            </a:extLst>
          </p:cNvPr>
          <p:cNvSpPr>
            <a:spLocks noGrp="1"/>
          </p:cNvSpPr>
          <p:nvPr>
            <p:ph type="ctrTitle"/>
          </p:nvPr>
        </p:nvSpPr>
        <p:spPr/>
        <p:txBody>
          <a:bodyPr/>
          <a:lstStyle/>
          <a:p>
            <a:r>
              <a:rPr lang="en-US" dirty="0">
                <a:latin typeface="Cambria" panose="02040503050406030204" pitchFamily="18" charset="0"/>
                <a:ea typeface="MS Mincho" panose="02020609040205080304" pitchFamily="49" charset="-128"/>
                <a:cs typeface="Times New Roman" panose="02020603050405020304" pitchFamily="18" charset="0"/>
              </a:rPr>
              <a:t>S</a:t>
            </a:r>
            <a:r>
              <a:rPr lang="en-US" sz="6000" dirty="0">
                <a:effectLst/>
                <a:latin typeface="Cambria" panose="02040503050406030204" pitchFamily="18" charset="0"/>
                <a:ea typeface="MS Mincho" panose="02020609040205080304" pitchFamily="49" charset="-128"/>
                <a:cs typeface="Times New Roman" panose="02020603050405020304" pitchFamily="18" charset="0"/>
              </a:rPr>
              <a:t>ecurity assessment of OWASP Juice Shop</a:t>
            </a:r>
            <a:endParaRPr lang="en-IN" dirty="0"/>
          </a:p>
        </p:txBody>
      </p:sp>
      <p:sp>
        <p:nvSpPr>
          <p:cNvPr id="3" name="Subtitle 2">
            <a:extLst>
              <a:ext uri="{FF2B5EF4-FFF2-40B4-BE49-F238E27FC236}">
                <a16:creationId xmlns:a16="http://schemas.microsoft.com/office/drawing/2014/main" id="{D9CF3C06-A38C-BDD5-60DF-F1A56CF80F7D}"/>
              </a:ext>
            </a:extLst>
          </p:cNvPr>
          <p:cNvSpPr>
            <a:spLocks noGrp="1"/>
          </p:cNvSpPr>
          <p:nvPr>
            <p:ph type="subTitle" idx="1"/>
          </p:nvPr>
        </p:nvSpPr>
        <p:spPr>
          <a:xfrm>
            <a:off x="6908801" y="5054600"/>
            <a:ext cx="4207932" cy="1024467"/>
          </a:xfrm>
        </p:spPr>
        <p:txBody>
          <a:bodyPr>
            <a:normAutofit fontScale="85000" lnSpcReduction="20000"/>
          </a:bodyPr>
          <a:lstStyle/>
          <a:p>
            <a:r>
              <a:rPr lang="en-IN" dirty="0"/>
              <a:t>Name : Aditya shekhar</a:t>
            </a:r>
          </a:p>
          <a:p>
            <a:r>
              <a:rPr lang="en-IN" dirty="0"/>
              <a:t>Cybersecurity</a:t>
            </a:r>
          </a:p>
          <a:p>
            <a:r>
              <a:rPr lang="en-IN" dirty="0"/>
              <a:t>Batch-2 June</a:t>
            </a:r>
          </a:p>
        </p:txBody>
      </p:sp>
    </p:spTree>
    <p:extLst>
      <p:ext uri="{BB962C8B-B14F-4D97-AF65-F5344CB8AC3E}">
        <p14:creationId xmlns:p14="http://schemas.microsoft.com/office/powerpoint/2010/main" val="2323069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03E58-A191-57B3-BB3B-E14793BD57B4}"/>
              </a:ext>
            </a:extLst>
          </p:cNvPr>
          <p:cNvSpPr>
            <a:spLocks noGrp="1"/>
          </p:cNvSpPr>
          <p:nvPr>
            <p:ph type="title"/>
          </p:nvPr>
        </p:nvSpPr>
        <p:spPr>
          <a:xfrm>
            <a:off x="711200" y="0"/>
            <a:ext cx="9398001" cy="1312333"/>
          </a:xfrm>
        </p:spPr>
        <p:txBody>
          <a:bodyPr>
            <a:normAutofit fontScale="90000"/>
          </a:bodyPr>
          <a:lstStyle/>
          <a:p>
            <a:r>
              <a:rPr lang="en-IN" sz="3600" b="1" dirty="0"/>
              <a:t>Index</a:t>
            </a:r>
            <a:br>
              <a:rPr lang="en-IN" b="1" dirty="0"/>
            </a:br>
            <a:endParaRPr lang="en-IN" dirty="0"/>
          </a:p>
        </p:txBody>
      </p:sp>
      <p:sp>
        <p:nvSpPr>
          <p:cNvPr id="3" name="Text Placeholder 2">
            <a:extLst>
              <a:ext uri="{FF2B5EF4-FFF2-40B4-BE49-F238E27FC236}">
                <a16:creationId xmlns:a16="http://schemas.microsoft.com/office/drawing/2014/main" id="{5A85479E-62A8-0633-14BF-5CD0A6B216B6}"/>
              </a:ext>
            </a:extLst>
          </p:cNvPr>
          <p:cNvSpPr>
            <a:spLocks noGrp="1"/>
          </p:cNvSpPr>
          <p:nvPr>
            <p:ph type="body" idx="1"/>
          </p:nvPr>
        </p:nvSpPr>
        <p:spPr>
          <a:xfrm>
            <a:off x="423333" y="990600"/>
            <a:ext cx="11650134" cy="5867400"/>
          </a:xfrm>
        </p:spPr>
        <p:txBody>
          <a:bodyPr>
            <a:normAutofit fontScale="55000" lnSpcReduction="20000"/>
          </a:bodyPr>
          <a:lstStyle/>
          <a:p>
            <a:pPr marL="342900" lvl="0" indent="-342900">
              <a:buFont typeface="Arial" panose="020B0604020202020204" pitchFamily="34" charset="0"/>
              <a:buChar char="•"/>
            </a:pPr>
            <a:r>
              <a:rPr lang="en-IN" b="1" dirty="0">
                <a:solidFill>
                  <a:schemeClr val="tx1"/>
                </a:solidFill>
              </a:rPr>
              <a:t>Introduction</a:t>
            </a:r>
            <a:r>
              <a:rPr lang="en-IN" dirty="0">
                <a:solidFill>
                  <a:schemeClr val="tx1"/>
                </a:solidFill>
              </a:rPr>
              <a:t> </a:t>
            </a:r>
          </a:p>
          <a:p>
            <a:pPr marL="342900" lvl="0" indent="-342900">
              <a:buFont typeface="Arial" panose="020B0604020202020204" pitchFamily="34" charset="0"/>
              <a:buChar char="•"/>
            </a:pPr>
            <a:r>
              <a:rPr lang="en-IN" b="1" dirty="0">
                <a:solidFill>
                  <a:schemeClr val="tx1"/>
                </a:solidFill>
              </a:rPr>
              <a:t>Objective</a:t>
            </a:r>
            <a:r>
              <a:rPr lang="en-IN" dirty="0">
                <a:solidFill>
                  <a:schemeClr val="tx1"/>
                </a:solidFill>
              </a:rPr>
              <a:t> </a:t>
            </a:r>
          </a:p>
          <a:p>
            <a:pPr marL="342900" lvl="0" indent="-342900">
              <a:buFont typeface="Arial" panose="020B0604020202020204" pitchFamily="34" charset="0"/>
              <a:buChar char="•"/>
            </a:pPr>
            <a:r>
              <a:rPr lang="en-IN" b="1" dirty="0">
                <a:solidFill>
                  <a:schemeClr val="tx1"/>
                </a:solidFill>
              </a:rPr>
              <a:t>Scope</a:t>
            </a:r>
            <a:r>
              <a:rPr lang="en-IN" dirty="0">
                <a:solidFill>
                  <a:schemeClr val="tx1"/>
                </a:solidFill>
              </a:rPr>
              <a:t> </a:t>
            </a:r>
          </a:p>
          <a:p>
            <a:pPr marL="342900" lvl="0" indent="-342900">
              <a:buFont typeface="Arial" panose="020B0604020202020204" pitchFamily="34" charset="0"/>
              <a:buChar char="•"/>
            </a:pPr>
            <a:r>
              <a:rPr lang="en-IN" b="1" dirty="0">
                <a:solidFill>
                  <a:schemeClr val="tx1"/>
                </a:solidFill>
              </a:rPr>
              <a:t>Tools Used</a:t>
            </a:r>
            <a:r>
              <a:rPr lang="en-IN" dirty="0">
                <a:solidFill>
                  <a:schemeClr val="tx1"/>
                </a:solidFill>
              </a:rPr>
              <a:t> </a:t>
            </a:r>
          </a:p>
          <a:p>
            <a:pPr marL="342900" lvl="0" indent="-342900">
              <a:buFont typeface="Arial" panose="020B0604020202020204" pitchFamily="34" charset="0"/>
              <a:buChar char="•"/>
            </a:pPr>
            <a:r>
              <a:rPr lang="en-IN" b="1" dirty="0">
                <a:solidFill>
                  <a:schemeClr val="tx1"/>
                </a:solidFill>
              </a:rPr>
              <a:t>Reconnaissance and Application Mapping</a:t>
            </a:r>
            <a:r>
              <a:rPr lang="en-IN" dirty="0">
                <a:solidFill>
                  <a:schemeClr val="tx1"/>
                </a:solidFill>
              </a:rPr>
              <a:t> </a:t>
            </a:r>
          </a:p>
          <a:p>
            <a:pPr marL="800100" lvl="1" indent="-342900">
              <a:buFont typeface="Arial" panose="020B0604020202020204" pitchFamily="34" charset="0"/>
              <a:buChar char="•"/>
            </a:pPr>
            <a:r>
              <a:rPr lang="en-IN" dirty="0">
                <a:solidFill>
                  <a:schemeClr val="tx1"/>
                </a:solidFill>
              </a:rPr>
              <a:t>Nmap Overview </a:t>
            </a:r>
          </a:p>
          <a:p>
            <a:pPr marL="800100" lvl="1" indent="-342900">
              <a:buFont typeface="Arial" panose="020B0604020202020204" pitchFamily="34" charset="0"/>
              <a:buChar char="•"/>
            </a:pPr>
            <a:r>
              <a:rPr lang="en-IN" dirty="0">
                <a:solidFill>
                  <a:schemeClr val="tx1"/>
                </a:solidFill>
              </a:rPr>
              <a:t>Scan Results </a:t>
            </a:r>
          </a:p>
          <a:p>
            <a:pPr marL="800100" lvl="1" indent="-342900">
              <a:buFont typeface="Arial" panose="020B0604020202020204" pitchFamily="34" charset="0"/>
              <a:buChar char="•"/>
            </a:pPr>
            <a:r>
              <a:rPr lang="en-IN" dirty="0">
                <a:solidFill>
                  <a:schemeClr val="tx1"/>
                </a:solidFill>
              </a:rPr>
              <a:t>Findings </a:t>
            </a:r>
          </a:p>
          <a:p>
            <a:pPr marL="342900" lvl="0" indent="-342900">
              <a:buFont typeface="Arial" panose="020B0604020202020204" pitchFamily="34" charset="0"/>
              <a:buChar char="•"/>
            </a:pPr>
            <a:r>
              <a:rPr lang="en-IN" b="1" dirty="0">
                <a:solidFill>
                  <a:schemeClr val="tx1"/>
                </a:solidFill>
              </a:rPr>
              <a:t>Authentication and Session Testing</a:t>
            </a:r>
            <a:r>
              <a:rPr lang="en-IN" dirty="0">
                <a:solidFill>
                  <a:schemeClr val="tx1"/>
                </a:solidFill>
              </a:rPr>
              <a:t> </a:t>
            </a:r>
          </a:p>
          <a:p>
            <a:pPr marL="800100" lvl="1" indent="-342900">
              <a:buFont typeface="Arial" panose="020B0604020202020204" pitchFamily="34" charset="0"/>
              <a:buChar char="•"/>
            </a:pPr>
            <a:r>
              <a:rPr lang="en-IN" dirty="0">
                <a:solidFill>
                  <a:schemeClr val="tx1"/>
                </a:solidFill>
              </a:rPr>
              <a:t>Burp Suite Configuration </a:t>
            </a:r>
          </a:p>
          <a:p>
            <a:pPr marL="800100" lvl="1" indent="-342900">
              <a:buFont typeface="Arial" panose="020B0604020202020204" pitchFamily="34" charset="0"/>
              <a:buChar char="•"/>
            </a:pPr>
            <a:r>
              <a:rPr lang="en-IN" dirty="0">
                <a:solidFill>
                  <a:schemeClr val="tx1"/>
                </a:solidFill>
              </a:rPr>
              <a:t>Login Request Interception </a:t>
            </a:r>
          </a:p>
          <a:p>
            <a:pPr marL="342900" lvl="0" indent="-342900">
              <a:buFont typeface="Arial" panose="020B0604020202020204" pitchFamily="34" charset="0"/>
              <a:buChar char="•"/>
            </a:pPr>
            <a:r>
              <a:rPr lang="en-IN" b="1" dirty="0">
                <a:solidFill>
                  <a:schemeClr val="tx1"/>
                </a:solidFill>
              </a:rPr>
              <a:t>Input Validation Testing</a:t>
            </a:r>
            <a:r>
              <a:rPr lang="en-IN" dirty="0">
                <a:solidFill>
                  <a:schemeClr val="tx1"/>
                </a:solidFill>
              </a:rPr>
              <a:t> </a:t>
            </a:r>
          </a:p>
          <a:p>
            <a:pPr marL="800100" lvl="1" indent="-342900">
              <a:buFont typeface="Arial" panose="020B0604020202020204" pitchFamily="34" charset="0"/>
              <a:buChar char="•"/>
            </a:pPr>
            <a:r>
              <a:rPr lang="en-IN" dirty="0">
                <a:solidFill>
                  <a:schemeClr val="tx1"/>
                </a:solidFill>
              </a:rPr>
              <a:t>Customer Feedback Interception </a:t>
            </a:r>
          </a:p>
          <a:p>
            <a:pPr marL="800100" lvl="1" indent="-342900">
              <a:buFont typeface="Arial" panose="020B0604020202020204" pitchFamily="34" charset="0"/>
              <a:buChar char="•"/>
            </a:pPr>
            <a:r>
              <a:rPr lang="en-IN" dirty="0">
                <a:solidFill>
                  <a:schemeClr val="tx1"/>
                </a:solidFill>
              </a:rPr>
              <a:t>Observations </a:t>
            </a:r>
          </a:p>
          <a:p>
            <a:pPr marL="342900" lvl="0" indent="-342900">
              <a:buFont typeface="Arial" panose="020B0604020202020204" pitchFamily="34" charset="0"/>
              <a:buChar char="•"/>
            </a:pPr>
            <a:r>
              <a:rPr lang="en-IN" b="1" dirty="0">
                <a:solidFill>
                  <a:schemeClr val="tx1"/>
                </a:solidFill>
              </a:rPr>
              <a:t>OWASP Top 10 Vulnerabilities Identified</a:t>
            </a:r>
            <a:r>
              <a:rPr lang="en-IN" dirty="0">
                <a:solidFill>
                  <a:schemeClr val="tx1"/>
                </a:solidFill>
              </a:rPr>
              <a:t> </a:t>
            </a:r>
          </a:p>
          <a:p>
            <a:pPr marL="800100" lvl="1" indent="-342900">
              <a:buFont typeface="Arial" panose="020B0604020202020204" pitchFamily="34" charset="0"/>
              <a:buChar char="•"/>
            </a:pPr>
            <a:r>
              <a:rPr lang="en-IN" dirty="0">
                <a:solidFill>
                  <a:schemeClr val="tx1"/>
                </a:solidFill>
              </a:rPr>
              <a:t>Score Board </a:t>
            </a:r>
          </a:p>
          <a:p>
            <a:pPr marL="800100" lvl="1" indent="-342900">
              <a:buFont typeface="Arial" panose="020B0604020202020204" pitchFamily="34" charset="0"/>
              <a:buChar char="•"/>
            </a:pPr>
            <a:r>
              <a:rPr lang="en-IN" dirty="0">
                <a:solidFill>
                  <a:schemeClr val="tx1"/>
                </a:solidFill>
              </a:rPr>
              <a:t>DOM XSS </a:t>
            </a:r>
          </a:p>
          <a:p>
            <a:pPr marL="800100" lvl="1" indent="-342900">
              <a:buFont typeface="Arial" panose="020B0604020202020204" pitchFamily="34" charset="0"/>
              <a:buChar char="•"/>
            </a:pPr>
            <a:r>
              <a:rPr lang="en-IN" dirty="0">
                <a:solidFill>
                  <a:schemeClr val="tx1"/>
                </a:solidFill>
              </a:rPr>
              <a:t>Cross-Site Scripting (XSS) </a:t>
            </a:r>
          </a:p>
          <a:p>
            <a:pPr marL="800100" lvl="1" indent="-342900">
              <a:buFont typeface="Arial" panose="020B0604020202020204" pitchFamily="34" charset="0"/>
              <a:buChar char="•"/>
            </a:pPr>
            <a:r>
              <a:rPr lang="en-IN" dirty="0">
                <a:solidFill>
                  <a:schemeClr val="tx1"/>
                </a:solidFill>
              </a:rPr>
              <a:t>Privacy Policy </a:t>
            </a:r>
          </a:p>
          <a:p>
            <a:pPr marL="800100" lvl="1" indent="-342900">
              <a:buFont typeface="Arial" panose="020B0604020202020204" pitchFamily="34" charset="0"/>
              <a:buChar char="•"/>
            </a:pPr>
            <a:r>
              <a:rPr lang="en-IN" dirty="0">
                <a:solidFill>
                  <a:schemeClr val="tx1"/>
                </a:solidFill>
              </a:rPr>
              <a:t>Sensitive Data Exposure </a:t>
            </a:r>
          </a:p>
          <a:p>
            <a:pPr marL="800100" lvl="1" indent="-342900">
              <a:buFont typeface="Arial" panose="020B0604020202020204" pitchFamily="34" charset="0"/>
              <a:buChar char="•"/>
            </a:pPr>
            <a:r>
              <a:rPr lang="en-IN" dirty="0">
                <a:solidFill>
                  <a:schemeClr val="tx1"/>
                </a:solidFill>
              </a:rPr>
              <a:t>Security Misconfiguration </a:t>
            </a:r>
          </a:p>
          <a:p>
            <a:pPr marL="800100" lvl="1" indent="-342900">
              <a:buFont typeface="Arial" panose="020B0604020202020204" pitchFamily="34" charset="0"/>
              <a:buChar char="•"/>
            </a:pPr>
            <a:r>
              <a:rPr lang="en-IN" dirty="0">
                <a:solidFill>
                  <a:schemeClr val="tx1"/>
                </a:solidFill>
              </a:rPr>
              <a:t>Improper Input Validation </a:t>
            </a:r>
          </a:p>
          <a:p>
            <a:pPr marL="800100" lvl="1" indent="-342900">
              <a:buFont typeface="Arial" panose="020B0604020202020204" pitchFamily="34" charset="0"/>
              <a:buChar char="•"/>
            </a:pPr>
            <a:r>
              <a:rPr lang="en-IN" dirty="0">
                <a:solidFill>
                  <a:schemeClr val="tx1"/>
                </a:solidFill>
              </a:rPr>
              <a:t>Unvalidated Redirects </a:t>
            </a:r>
          </a:p>
          <a:p>
            <a:pPr marL="800100" lvl="1" indent="-342900">
              <a:buFont typeface="Arial" panose="020B0604020202020204" pitchFamily="34" charset="0"/>
              <a:buChar char="•"/>
            </a:pPr>
            <a:r>
              <a:rPr lang="en-IN" dirty="0">
                <a:solidFill>
                  <a:schemeClr val="tx1"/>
                </a:solidFill>
              </a:rPr>
              <a:t>Repetitive Registration </a:t>
            </a:r>
          </a:p>
          <a:p>
            <a:pPr marL="342900" lvl="0" indent="-342900">
              <a:buFont typeface="Arial" panose="020B0604020202020204" pitchFamily="34" charset="0"/>
              <a:buChar char="•"/>
            </a:pPr>
            <a:r>
              <a:rPr lang="en-IN" b="1" dirty="0">
                <a:solidFill>
                  <a:schemeClr val="tx1"/>
                </a:solidFill>
              </a:rPr>
              <a:t>Findings and Analysis</a:t>
            </a:r>
            <a:r>
              <a:rPr lang="en-IN" dirty="0">
                <a:solidFill>
                  <a:schemeClr val="tx1"/>
                </a:solidFill>
              </a:rPr>
              <a:t> </a:t>
            </a:r>
          </a:p>
          <a:p>
            <a:pPr marL="342900" lvl="0" indent="-342900">
              <a:buFont typeface="Arial" panose="020B0604020202020204" pitchFamily="34" charset="0"/>
              <a:buChar char="•"/>
            </a:pPr>
            <a:r>
              <a:rPr lang="en-IN" b="1" dirty="0">
                <a:solidFill>
                  <a:schemeClr val="tx1"/>
                </a:solidFill>
              </a:rPr>
              <a:t>Remediation Recommendations</a:t>
            </a:r>
            <a:r>
              <a:rPr lang="en-IN" dirty="0">
                <a:solidFill>
                  <a:schemeClr val="tx1"/>
                </a:solidFill>
              </a:rPr>
              <a:t> </a:t>
            </a:r>
          </a:p>
          <a:p>
            <a:pPr marL="342900" lvl="0" indent="-342900">
              <a:buFont typeface="Arial" panose="020B0604020202020204" pitchFamily="34" charset="0"/>
              <a:buChar char="•"/>
            </a:pPr>
            <a:r>
              <a:rPr lang="en-IN" b="1" dirty="0">
                <a:solidFill>
                  <a:schemeClr val="tx1"/>
                </a:solidFill>
              </a:rPr>
              <a:t>Conclusion</a:t>
            </a:r>
            <a:endParaRPr lang="en-IN" dirty="0">
              <a:solidFill>
                <a:schemeClr val="tx1"/>
              </a:solidFill>
            </a:endParaRPr>
          </a:p>
          <a:p>
            <a:endParaRPr lang="en-IN" dirty="0"/>
          </a:p>
        </p:txBody>
      </p:sp>
    </p:spTree>
    <p:extLst>
      <p:ext uri="{BB962C8B-B14F-4D97-AF65-F5344CB8AC3E}">
        <p14:creationId xmlns:p14="http://schemas.microsoft.com/office/powerpoint/2010/main" val="3869141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4E7D8-EFF8-66A6-9F8C-2D2B764F792A}"/>
              </a:ext>
            </a:extLst>
          </p:cNvPr>
          <p:cNvSpPr>
            <a:spLocks noGrp="1"/>
          </p:cNvSpPr>
          <p:nvPr>
            <p:ph type="title"/>
          </p:nvPr>
        </p:nvSpPr>
        <p:spPr/>
        <p:txBody>
          <a:bodyPr>
            <a:normAutofit/>
          </a:bodyPr>
          <a:lstStyle/>
          <a:p>
            <a:r>
              <a:rPr lang="en-US" sz="3200" dirty="0"/>
              <a:t>Reconnaissance and application mapping</a:t>
            </a:r>
            <a:endParaRPr lang="en-IN" sz="3200" dirty="0"/>
          </a:p>
        </p:txBody>
      </p:sp>
      <p:sp>
        <p:nvSpPr>
          <p:cNvPr id="3" name="Content Placeholder 2">
            <a:extLst>
              <a:ext uri="{FF2B5EF4-FFF2-40B4-BE49-F238E27FC236}">
                <a16:creationId xmlns:a16="http://schemas.microsoft.com/office/drawing/2014/main" id="{BCC64B6D-882E-B620-61D9-8FB01092C847}"/>
              </a:ext>
            </a:extLst>
          </p:cNvPr>
          <p:cNvSpPr>
            <a:spLocks noGrp="1"/>
          </p:cNvSpPr>
          <p:nvPr>
            <p:ph idx="1"/>
          </p:nvPr>
        </p:nvSpPr>
        <p:spPr/>
        <p:txBody>
          <a:bodyPr>
            <a:normAutofit/>
          </a:bodyPr>
          <a:lstStyle/>
          <a:p>
            <a:r>
              <a:rPr lang="en-US" sz="1800" dirty="0"/>
              <a:t>Reconnaissance and Application Mapping comprise the first step of security testing. You need to know which hosts are alive and what services are running on them before performing any vulnerability scanning or hardening your system</a:t>
            </a:r>
          </a:p>
          <a:p>
            <a:endParaRPr lang="en-US" dirty="0"/>
          </a:p>
          <a:p>
            <a:r>
              <a:rPr lang="en-IN" sz="2400" b="1" dirty="0"/>
              <a:t>1. Core Phases of Nmap Reconnaissance</a:t>
            </a:r>
          </a:p>
          <a:p>
            <a:r>
              <a:rPr lang="en-IN" sz="1800" dirty="0"/>
              <a:t>Reconnaissance typically follows a structured progression from broad discovery to granular service interrogation:</a:t>
            </a:r>
          </a:p>
          <a:p>
            <a:r>
              <a:rPr lang="en-IN" sz="1800" dirty="0"/>
              <a:t>[ Active Host Discovery ]  ---&gt;  [ Port Scanning ]  ---&gt;  [ Service &amp; OS Mapping ]  ---&gt;  [ NSE Script Auditing ]</a:t>
            </a:r>
          </a:p>
          <a:p>
            <a:endParaRPr lang="en-IN" dirty="0"/>
          </a:p>
        </p:txBody>
      </p:sp>
    </p:spTree>
    <p:extLst>
      <p:ext uri="{BB962C8B-B14F-4D97-AF65-F5344CB8AC3E}">
        <p14:creationId xmlns:p14="http://schemas.microsoft.com/office/powerpoint/2010/main" val="2066168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25BF-C9D6-97F5-E781-22FBE3C87233}"/>
              </a:ext>
            </a:extLst>
          </p:cNvPr>
          <p:cNvSpPr>
            <a:spLocks noGrp="1"/>
          </p:cNvSpPr>
          <p:nvPr>
            <p:ph type="title"/>
          </p:nvPr>
        </p:nvSpPr>
        <p:spPr>
          <a:xfrm>
            <a:off x="839788" y="457200"/>
            <a:ext cx="3932237" cy="1058333"/>
          </a:xfrm>
        </p:spPr>
        <p:txBody>
          <a:bodyPr>
            <a:normAutofit fontScale="90000"/>
          </a:bodyPr>
          <a:lstStyle/>
          <a:p>
            <a:r>
              <a:rPr lang="en-IN" sz="2400" dirty="0"/>
              <a:t>Reconnaissance and Application Mapping using Nmap (OWASP Juice Shop)</a:t>
            </a:r>
          </a:p>
        </p:txBody>
      </p:sp>
      <p:pic>
        <p:nvPicPr>
          <p:cNvPr id="6" name="Content Placeholder 5">
            <a:extLst>
              <a:ext uri="{FF2B5EF4-FFF2-40B4-BE49-F238E27FC236}">
                <a16:creationId xmlns:a16="http://schemas.microsoft.com/office/drawing/2014/main" id="{94A8C33A-88C9-46F1-C08D-1042F856D4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081030"/>
            <a:ext cx="6172200" cy="4686414"/>
          </a:xfrm>
          <a:prstGeom prst="rect">
            <a:avLst/>
          </a:prstGeom>
        </p:spPr>
      </p:pic>
      <p:sp>
        <p:nvSpPr>
          <p:cNvPr id="4" name="Text Placeholder 3">
            <a:extLst>
              <a:ext uri="{FF2B5EF4-FFF2-40B4-BE49-F238E27FC236}">
                <a16:creationId xmlns:a16="http://schemas.microsoft.com/office/drawing/2014/main" id="{529979C7-2C5C-F852-9E87-8771D02B0EF7}"/>
              </a:ext>
            </a:extLst>
          </p:cNvPr>
          <p:cNvSpPr>
            <a:spLocks noGrp="1"/>
          </p:cNvSpPr>
          <p:nvPr>
            <p:ph type="body" sz="half" idx="2"/>
          </p:nvPr>
        </p:nvSpPr>
        <p:spPr>
          <a:xfrm>
            <a:off x="839788" y="1515533"/>
            <a:ext cx="3932237" cy="4353455"/>
          </a:xfrm>
        </p:spPr>
        <p:txBody>
          <a:bodyPr>
            <a:normAutofit lnSpcReduction="10000"/>
          </a:bodyPr>
          <a:lstStyle/>
          <a:p>
            <a:r>
              <a:rPr lang="en-IN" b="1" dirty="0"/>
              <a:t>Command Used</a:t>
            </a:r>
          </a:p>
          <a:p>
            <a:r>
              <a:rPr lang="en-IN" dirty="0" err="1"/>
              <a:t>nmap</a:t>
            </a:r>
            <a:r>
              <a:rPr lang="en-IN" dirty="0"/>
              <a:t> -</a:t>
            </a:r>
            <a:r>
              <a:rPr lang="en-IN" dirty="0" err="1"/>
              <a:t>sV</a:t>
            </a:r>
            <a:r>
              <a:rPr lang="en-IN" dirty="0"/>
              <a:t> -</a:t>
            </a:r>
            <a:r>
              <a:rPr lang="en-IN" dirty="0" err="1"/>
              <a:t>sC</a:t>
            </a:r>
            <a:r>
              <a:rPr lang="en-IN" dirty="0"/>
              <a:t> -p 3000 localhost</a:t>
            </a:r>
          </a:p>
          <a:p>
            <a:r>
              <a:rPr lang="en-IN" b="1" dirty="0"/>
              <a:t>Interpretation</a:t>
            </a:r>
          </a:p>
          <a:p>
            <a:pPr lvl="0"/>
            <a:r>
              <a:rPr lang="en-IN" dirty="0"/>
              <a:t>The target host is </a:t>
            </a:r>
            <a:r>
              <a:rPr lang="en-IN" b="1" dirty="0"/>
              <a:t>up</a:t>
            </a:r>
            <a:r>
              <a:rPr lang="en-IN" dirty="0"/>
              <a:t>. </a:t>
            </a:r>
          </a:p>
          <a:p>
            <a:pPr lvl="0"/>
            <a:r>
              <a:rPr lang="en-IN" b="1" dirty="0"/>
              <a:t>TCP Port 3000</a:t>
            </a:r>
            <a:r>
              <a:rPr lang="en-IN" dirty="0"/>
              <a:t> is </a:t>
            </a:r>
            <a:r>
              <a:rPr lang="en-IN" b="1" dirty="0"/>
              <a:t>open</a:t>
            </a:r>
            <a:r>
              <a:rPr lang="en-IN" dirty="0"/>
              <a:t>. </a:t>
            </a:r>
          </a:p>
          <a:p>
            <a:pPr lvl="0"/>
            <a:r>
              <a:rPr lang="en-IN" dirty="0"/>
              <a:t>The application running on port 3000 is </a:t>
            </a:r>
            <a:r>
              <a:rPr lang="en-IN" b="1" dirty="0"/>
              <a:t>OWASP Juice Shop</a:t>
            </a:r>
            <a:r>
              <a:rPr lang="en-IN" dirty="0"/>
              <a:t>, a Node.js web application. </a:t>
            </a:r>
          </a:p>
          <a:p>
            <a:r>
              <a:rPr lang="en-IN" b="1" dirty="0"/>
              <a:t>HTTP Information Discovered</a:t>
            </a:r>
          </a:p>
          <a:p>
            <a:r>
              <a:rPr lang="en-IN" dirty="0"/>
              <a:t>Nmap retrieved several HTTP headers:</a:t>
            </a:r>
          </a:p>
          <a:p>
            <a:r>
              <a:rPr lang="en-IN" dirty="0"/>
              <a:t>HTTP/1.1 200 OK</a:t>
            </a:r>
          </a:p>
          <a:p>
            <a:r>
              <a:rPr lang="en-IN" dirty="0"/>
              <a:t>This indicates:</a:t>
            </a:r>
          </a:p>
          <a:p>
            <a:pPr lvl="0"/>
            <a:r>
              <a:rPr lang="en-IN" dirty="0"/>
              <a:t>The web server is functioning correctly. </a:t>
            </a:r>
          </a:p>
          <a:p>
            <a:pPr lvl="0"/>
            <a:r>
              <a:rPr lang="en-IN" dirty="0"/>
              <a:t>The requested page loaded successfully.</a:t>
            </a:r>
          </a:p>
          <a:p>
            <a:endParaRPr lang="en-IN" dirty="0"/>
          </a:p>
        </p:txBody>
      </p:sp>
    </p:spTree>
    <p:extLst>
      <p:ext uri="{BB962C8B-B14F-4D97-AF65-F5344CB8AC3E}">
        <p14:creationId xmlns:p14="http://schemas.microsoft.com/office/powerpoint/2010/main" val="2334444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34BA6E-6257-8D41-3D3A-FE8987DCC58E}"/>
              </a:ext>
            </a:extLst>
          </p:cNvPr>
          <p:cNvSpPr>
            <a:spLocks noGrp="1"/>
          </p:cNvSpPr>
          <p:nvPr>
            <p:ph type="body" idx="4294967295"/>
          </p:nvPr>
        </p:nvSpPr>
        <p:spPr>
          <a:xfrm>
            <a:off x="211667" y="59267"/>
            <a:ext cx="6163734" cy="6409266"/>
          </a:xfrm>
        </p:spPr>
        <p:txBody>
          <a:bodyPr>
            <a:normAutofit fontScale="47500" lnSpcReduction="20000"/>
          </a:bodyPr>
          <a:lstStyle/>
          <a:p>
            <a:pPr>
              <a:buNone/>
            </a:pPr>
            <a:r>
              <a:rPr lang="en-IN" b="1" dirty="0"/>
              <a:t>Information Gathered</a:t>
            </a:r>
          </a:p>
          <a:p>
            <a:pPr marL="342900" lvl="0" indent="-342900">
              <a:buFont typeface="Arial" panose="020B0604020202020204" pitchFamily="34" charset="0"/>
              <a:buChar char="•"/>
            </a:pPr>
            <a:r>
              <a:rPr lang="en-IN" dirty="0"/>
              <a:t>Host is reachable. </a:t>
            </a:r>
          </a:p>
          <a:p>
            <a:pPr marL="342900" lvl="0" indent="-342900">
              <a:buFont typeface="Arial" panose="020B0604020202020204" pitchFamily="34" charset="0"/>
              <a:buChar char="•"/>
            </a:pPr>
            <a:r>
              <a:rPr lang="en-IN" dirty="0"/>
              <a:t>Port </a:t>
            </a:r>
            <a:r>
              <a:rPr lang="en-IN" b="1" dirty="0"/>
              <a:t>3000</a:t>
            </a:r>
            <a:r>
              <a:rPr lang="en-IN" dirty="0"/>
              <a:t> is open. </a:t>
            </a:r>
          </a:p>
          <a:p>
            <a:pPr marL="342900" lvl="0" indent="-342900">
              <a:buFont typeface="Arial" panose="020B0604020202020204" pitchFamily="34" charset="0"/>
              <a:buChar char="•"/>
            </a:pPr>
            <a:r>
              <a:rPr lang="en-IN" dirty="0"/>
              <a:t>HTTP service is running. </a:t>
            </a:r>
          </a:p>
          <a:p>
            <a:pPr marL="342900" lvl="0" indent="-342900">
              <a:buFont typeface="Arial" panose="020B0604020202020204" pitchFamily="34" charset="0"/>
              <a:buChar char="•"/>
            </a:pPr>
            <a:r>
              <a:rPr lang="en-IN" dirty="0"/>
              <a:t>Application title identified as </a:t>
            </a:r>
          </a:p>
          <a:p>
            <a:pPr marL="0" lvl="0" indent="0">
              <a:buNone/>
            </a:pPr>
            <a:r>
              <a:rPr lang="en-IN" b="1" dirty="0"/>
              <a:t>           OWASP Juice Shop</a:t>
            </a:r>
            <a:r>
              <a:rPr lang="en-IN" dirty="0"/>
              <a:t>. </a:t>
            </a:r>
          </a:p>
          <a:p>
            <a:pPr marL="342900" lvl="0" indent="-342900">
              <a:buFont typeface="Arial" panose="020B0604020202020204" pitchFamily="34" charset="0"/>
              <a:buChar char="•"/>
            </a:pPr>
            <a:r>
              <a:rPr lang="en-IN" dirty="0"/>
              <a:t>Security headers detected: </a:t>
            </a:r>
          </a:p>
          <a:p>
            <a:pPr marL="742950" lvl="1" indent="-285750">
              <a:buFont typeface="Arial" panose="020B0604020202020204" pitchFamily="34" charset="0"/>
              <a:buChar char="•"/>
            </a:pPr>
            <a:r>
              <a:rPr lang="en-IN" dirty="0">
                <a:latin typeface="Courier New" panose="02070309020205020404" pitchFamily="49" charset="0"/>
              </a:rPr>
              <a:t>X-Frame-Options</a:t>
            </a:r>
            <a:r>
              <a:rPr lang="en-IN" dirty="0"/>
              <a:t> </a:t>
            </a:r>
          </a:p>
          <a:p>
            <a:pPr marL="742950" lvl="1" indent="-285750">
              <a:buFont typeface="Arial" panose="020B0604020202020204" pitchFamily="34" charset="0"/>
              <a:buChar char="•"/>
            </a:pPr>
            <a:r>
              <a:rPr lang="en-IN" dirty="0">
                <a:latin typeface="Courier New" panose="02070309020205020404" pitchFamily="49" charset="0"/>
              </a:rPr>
              <a:t>X-Content-Type-Options</a:t>
            </a:r>
            <a:r>
              <a:rPr lang="en-IN" dirty="0"/>
              <a:t> </a:t>
            </a:r>
          </a:p>
          <a:p>
            <a:pPr marL="742950" lvl="1" indent="-285750">
              <a:buFont typeface="Arial" panose="020B0604020202020204" pitchFamily="34" charset="0"/>
              <a:buChar char="•"/>
            </a:pPr>
            <a:r>
              <a:rPr lang="en-IN" dirty="0">
                <a:latin typeface="Courier New" panose="02070309020205020404" pitchFamily="49" charset="0"/>
              </a:rPr>
              <a:t>Access-Control-Allow-Origin</a:t>
            </a:r>
            <a:r>
              <a:rPr lang="en-IN" dirty="0"/>
              <a:t> </a:t>
            </a:r>
          </a:p>
          <a:p>
            <a:pPr marL="342900" lvl="0" indent="-342900">
              <a:buFont typeface="Arial" panose="020B0604020202020204" pitchFamily="34" charset="0"/>
              <a:buChar char="•"/>
            </a:pPr>
            <a:r>
              <a:rPr lang="en-IN" dirty="0"/>
              <a:t>HTML page successfully retrieved. </a:t>
            </a:r>
          </a:p>
          <a:p>
            <a:pPr marL="342900" lvl="0" indent="-342900">
              <a:buFont typeface="Arial" panose="020B0604020202020204" pitchFamily="34" charset="0"/>
              <a:buChar char="•"/>
            </a:pPr>
            <a:r>
              <a:rPr lang="en-IN" dirty="0"/>
              <a:t>Default NSE scripts executed successfully. </a:t>
            </a:r>
          </a:p>
          <a:p>
            <a:pPr>
              <a:buNone/>
            </a:pPr>
            <a:br>
              <a:rPr lang="en-IN" dirty="0"/>
            </a:br>
            <a:endParaRPr lang="en-IN" dirty="0"/>
          </a:p>
          <a:p>
            <a:pPr>
              <a:buNone/>
            </a:pPr>
            <a:r>
              <a:rPr lang="en-IN" b="1" dirty="0"/>
              <a:t>Reconnaissance Findings</a:t>
            </a:r>
          </a:p>
          <a:p>
            <a:pPr marL="342900" lvl="0" indent="-342900">
              <a:buFont typeface="Arial" panose="020B0604020202020204" pitchFamily="34" charset="0"/>
              <a:buChar char="•"/>
            </a:pPr>
            <a:r>
              <a:rPr lang="en-IN" b="1" dirty="0"/>
              <a:t>Target:</a:t>
            </a:r>
            <a:r>
              <a:rPr lang="en-IN" dirty="0"/>
              <a:t> localhost (127.0.0.1) </a:t>
            </a:r>
          </a:p>
          <a:p>
            <a:pPr marL="342900" lvl="0" indent="-342900">
              <a:buFont typeface="Arial" panose="020B0604020202020204" pitchFamily="34" charset="0"/>
              <a:buChar char="•"/>
            </a:pPr>
            <a:r>
              <a:rPr lang="en-IN" b="1" dirty="0"/>
              <a:t>Application:</a:t>
            </a:r>
            <a:r>
              <a:rPr lang="en-IN" dirty="0"/>
              <a:t> OWASP Juice Shop </a:t>
            </a:r>
          </a:p>
          <a:p>
            <a:pPr marL="342900" lvl="0" indent="-342900">
              <a:buFont typeface="Arial" panose="020B0604020202020204" pitchFamily="34" charset="0"/>
              <a:buChar char="•"/>
            </a:pPr>
            <a:r>
              <a:rPr lang="en-IN" b="1" dirty="0"/>
              <a:t>Listening Port:</a:t>
            </a:r>
            <a:r>
              <a:rPr lang="en-IN" dirty="0"/>
              <a:t> 3000/TCP </a:t>
            </a:r>
          </a:p>
          <a:p>
            <a:pPr marL="342900" lvl="0" indent="-342900">
              <a:buFont typeface="Arial" panose="020B0604020202020204" pitchFamily="34" charset="0"/>
              <a:buChar char="•"/>
            </a:pPr>
            <a:r>
              <a:rPr lang="en-IN" b="1" dirty="0"/>
              <a:t>Protocol:</a:t>
            </a:r>
            <a:r>
              <a:rPr lang="en-IN" dirty="0"/>
              <a:t> HTTP </a:t>
            </a:r>
          </a:p>
          <a:p>
            <a:pPr marL="342900" lvl="0" indent="-342900">
              <a:buFont typeface="Arial" panose="020B0604020202020204" pitchFamily="34" charset="0"/>
              <a:buChar char="•"/>
            </a:pPr>
            <a:r>
              <a:rPr lang="en-IN" b="1" dirty="0"/>
              <a:t>Status:</a:t>
            </a:r>
            <a:r>
              <a:rPr lang="en-IN" dirty="0"/>
              <a:t> Running and accessible </a:t>
            </a:r>
          </a:p>
          <a:p>
            <a:pPr marL="342900" lvl="0" indent="-342900">
              <a:buFont typeface="Arial" panose="020B0604020202020204" pitchFamily="34" charset="0"/>
              <a:buChar char="•"/>
            </a:pPr>
            <a:r>
              <a:rPr lang="en-IN" b="1" dirty="0"/>
              <a:t>Technology:</a:t>
            </a:r>
            <a:r>
              <a:rPr lang="en-IN" dirty="0"/>
              <a:t> Node.js web application (inferred from Juice Shop deployment) </a:t>
            </a:r>
          </a:p>
          <a:p>
            <a:pPr marL="342900" lvl="0" indent="-342900">
              <a:buFont typeface="Arial" panose="020B0604020202020204" pitchFamily="34" charset="0"/>
              <a:buChar char="•"/>
            </a:pPr>
            <a:r>
              <a:rPr lang="en-IN" b="1" dirty="0"/>
              <a:t>Purpose:</a:t>
            </a:r>
            <a:r>
              <a:rPr lang="en-IN" dirty="0"/>
              <a:t> Intentionally vulnerable application for security training </a:t>
            </a:r>
          </a:p>
          <a:p>
            <a:pPr>
              <a:buNone/>
            </a:pPr>
            <a:br>
              <a:rPr lang="en-IN" dirty="0"/>
            </a:br>
            <a:endParaRPr lang="en-IN" dirty="0"/>
          </a:p>
          <a:p>
            <a:endParaRPr lang="en-IN" dirty="0"/>
          </a:p>
        </p:txBody>
      </p:sp>
      <p:pic>
        <p:nvPicPr>
          <p:cNvPr id="5" name="Picture 4">
            <a:extLst>
              <a:ext uri="{FF2B5EF4-FFF2-40B4-BE49-F238E27FC236}">
                <a16:creationId xmlns:a16="http://schemas.microsoft.com/office/drawing/2014/main" id="{79BB20AD-922C-3771-6912-A8BDAE7AD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1960" y="59267"/>
            <a:ext cx="7826907" cy="4406849"/>
          </a:xfrm>
          <a:prstGeom prst="rect">
            <a:avLst/>
          </a:prstGeom>
        </p:spPr>
      </p:pic>
    </p:spTree>
    <p:extLst>
      <p:ext uri="{BB962C8B-B14F-4D97-AF65-F5344CB8AC3E}">
        <p14:creationId xmlns:p14="http://schemas.microsoft.com/office/powerpoint/2010/main" val="271284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EF92B-90EF-F956-41B9-8D275081D3D8}"/>
              </a:ext>
            </a:extLst>
          </p:cNvPr>
          <p:cNvSpPr>
            <a:spLocks noGrp="1"/>
          </p:cNvSpPr>
          <p:nvPr>
            <p:ph type="title"/>
          </p:nvPr>
        </p:nvSpPr>
        <p:spPr>
          <a:xfrm>
            <a:off x="575733" y="0"/>
            <a:ext cx="10771717" cy="768349"/>
          </a:xfrm>
        </p:spPr>
        <p:txBody>
          <a:bodyPr>
            <a:normAutofit/>
          </a:bodyPr>
          <a:lstStyle/>
          <a:p>
            <a:r>
              <a:rPr lang="en-IN" sz="3200" b="1" dirty="0"/>
              <a:t>Conclusion</a:t>
            </a:r>
            <a:endParaRPr lang="en-IN" sz="3200" dirty="0"/>
          </a:p>
        </p:txBody>
      </p:sp>
      <p:sp>
        <p:nvSpPr>
          <p:cNvPr id="3" name="Text Placeholder 2">
            <a:extLst>
              <a:ext uri="{FF2B5EF4-FFF2-40B4-BE49-F238E27FC236}">
                <a16:creationId xmlns:a16="http://schemas.microsoft.com/office/drawing/2014/main" id="{85D77891-7A4B-A17E-981A-959DCDBA82E3}"/>
              </a:ext>
            </a:extLst>
          </p:cNvPr>
          <p:cNvSpPr>
            <a:spLocks noGrp="1"/>
          </p:cNvSpPr>
          <p:nvPr>
            <p:ph type="body" idx="1"/>
          </p:nvPr>
        </p:nvSpPr>
        <p:spPr>
          <a:xfrm>
            <a:off x="575733" y="1210733"/>
            <a:ext cx="10771717" cy="4878917"/>
          </a:xfrm>
        </p:spPr>
        <p:txBody>
          <a:bodyPr>
            <a:normAutofit/>
          </a:bodyPr>
          <a:lstStyle/>
          <a:p>
            <a:r>
              <a:rPr lang="en-IN" sz="1800" dirty="0">
                <a:solidFill>
                  <a:schemeClr val="tx1"/>
                </a:solidFill>
              </a:rPr>
              <a:t>The Nmap reconnaissance successfully identified a live web application running on TCP port 3000. Version detection and default NSE scripts confirmed that the service responds over HTTP and exposed useful information such as HTTP headers, the page title, and application metadata. This reconnaissance phase provides a clear application map and forms the basis for subsequent security assessment and vulnerability testing of the OWASP Juice Shop instance.</a:t>
            </a:r>
            <a:br>
              <a:rPr lang="en-IN" sz="3200" dirty="0">
                <a:solidFill>
                  <a:prstClr val="black">
                    <a:tint val="82000"/>
                  </a:prstClr>
                </a:solidFill>
              </a:rPr>
            </a:br>
            <a:endParaRPr lang="en-IN" dirty="0"/>
          </a:p>
        </p:txBody>
      </p:sp>
    </p:spTree>
    <p:extLst>
      <p:ext uri="{BB962C8B-B14F-4D97-AF65-F5344CB8AC3E}">
        <p14:creationId xmlns:p14="http://schemas.microsoft.com/office/powerpoint/2010/main" val="814672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513A6-2DF3-2E9C-EC5E-D722964F209D}"/>
              </a:ext>
            </a:extLst>
          </p:cNvPr>
          <p:cNvSpPr>
            <a:spLocks noGrp="1"/>
          </p:cNvSpPr>
          <p:nvPr>
            <p:ph type="title"/>
          </p:nvPr>
        </p:nvSpPr>
        <p:spPr>
          <a:xfrm>
            <a:off x="406400" y="84667"/>
            <a:ext cx="10947400" cy="1606021"/>
          </a:xfrm>
        </p:spPr>
        <p:txBody>
          <a:bodyPr>
            <a:normAutofit/>
          </a:bodyPr>
          <a:lstStyle/>
          <a:p>
            <a:r>
              <a:rPr lang="en-US" sz="3600" dirty="0"/>
              <a:t>Authentication and session /Input validation testing</a:t>
            </a:r>
            <a:br>
              <a:rPr lang="en-US" dirty="0"/>
            </a:br>
            <a:endParaRPr lang="en-IN" dirty="0"/>
          </a:p>
        </p:txBody>
      </p:sp>
      <p:sp>
        <p:nvSpPr>
          <p:cNvPr id="3" name="Text Placeholder 2">
            <a:extLst>
              <a:ext uri="{FF2B5EF4-FFF2-40B4-BE49-F238E27FC236}">
                <a16:creationId xmlns:a16="http://schemas.microsoft.com/office/drawing/2014/main" id="{CAB0CA8A-55FA-34CE-BB5B-ACBE4E52667E}"/>
              </a:ext>
            </a:extLst>
          </p:cNvPr>
          <p:cNvSpPr>
            <a:spLocks noGrp="1"/>
          </p:cNvSpPr>
          <p:nvPr>
            <p:ph type="body" idx="4294967295"/>
          </p:nvPr>
        </p:nvSpPr>
        <p:spPr>
          <a:xfrm>
            <a:off x="347133" y="1397000"/>
            <a:ext cx="11785600" cy="5376333"/>
          </a:xfrm>
        </p:spPr>
        <p:txBody>
          <a:bodyPr>
            <a:normAutofit fontScale="85000" lnSpcReduction="20000"/>
          </a:bodyPr>
          <a:lstStyle/>
          <a:p>
            <a:r>
              <a:rPr lang="en-US" sz="2400" dirty="0"/>
              <a:t>Authentication and Session Testing and Input Validation Testing are among the crucial elements in testing for the security of web applications. The objective of these tests is to make sure that the authentication process, session protection, and user input validation can be achieved. You need to conduct these tests only in your system or systems with your explicit permission.</a:t>
            </a:r>
          </a:p>
          <a:p>
            <a:r>
              <a:rPr lang="en-IN" sz="2400" b="1" dirty="0"/>
              <a:t>1. Authentication and Session Testing Using Burp Suite</a:t>
            </a:r>
          </a:p>
          <a:p>
            <a:r>
              <a:rPr lang="en-IN" sz="2400" b="1" dirty="0"/>
              <a:t>Objective</a:t>
            </a:r>
          </a:p>
          <a:p>
            <a:r>
              <a:rPr lang="en-IN" sz="2400" dirty="0"/>
              <a:t>Verify that the application's login, logout, and session management mechanisms are secure.</a:t>
            </a:r>
          </a:p>
          <a:p>
            <a:r>
              <a:rPr lang="en-IN" sz="2400" b="1" dirty="0"/>
              <a:t>Tools Required</a:t>
            </a:r>
          </a:p>
          <a:p>
            <a:pPr lvl="0"/>
            <a:r>
              <a:rPr lang="en-IN" sz="2400" dirty="0"/>
              <a:t>Burp Suite Community/Professional </a:t>
            </a:r>
          </a:p>
          <a:p>
            <a:pPr lvl="0"/>
            <a:r>
              <a:rPr lang="en-IN" sz="2400" dirty="0"/>
              <a:t>Browser (Firefox/Chrome) </a:t>
            </a:r>
          </a:p>
          <a:p>
            <a:pPr lvl="0"/>
            <a:r>
              <a:rPr lang="en-IN" sz="2400" dirty="0"/>
              <a:t>Target application (e.g., OWASP Juice Shop) </a:t>
            </a:r>
          </a:p>
          <a:p>
            <a:r>
              <a:rPr lang="en-IN" sz="2400" b="1" dirty="0"/>
              <a:t>Step-by-Step Procedure</a:t>
            </a:r>
          </a:p>
          <a:p>
            <a:r>
              <a:rPr lang="en-IN" sz="2400" b="1" dirty="0"/>
              <a:t>Step 1: Configure Burp Suite</a:t>
            </a:r>
          </a:p>
          <a:p>
            <a:pPr lvl="0"/>
            <a:r>
              <a:rPr lang="en-IN" sz="2400" dirty="0"/>
              <a:t>Open Burp Suite. </a:t>
            </a:r>
          </a:p>
          <a:p>
            <a:pPr lvl="0"/>
            <a:r>
              <a:rPr lang="en-IN" sz="2400" dirty="0"/>
              <a:t>Go to </a:t>
            </a:r>
            <a:r>
              <a:rPr lang="en-IN" sz="2400" b="1" dirty="0"/>
              <a:t>Proxy → Intercept</a:t>
            </a:r>
            <a:r>
              <a:rPr lang="en-IN" sz="2400" dirty="0"/>
              <a:t>. </a:t>
            </a:r>
          </a:p>
          <a:p>
            <a:pPr lvl="0"/>
            <a:r>
              <a:rPr lang="en-IN" sz="2400" dirty="0"/>
              <a:t>Turn </a:t>
            </a:r>
            <a:r>
              <a:rPr lang="en-IN" sz="2400" b="1" dirty="0"/>
              <a:t>Intercept ON</a:t>
            </a:r>
            <a:r>
              <a:rPr lang="en-IN" sz="2400" dirty="0"/>
              <a:t>. </a:t>
            </a:r>
          </a:p>
          <a:p>
            <a:pPr lvl="0"/>
            <a:r>
              <a:rPr lang="en-IN" sz="2400" dirty="0"/>
              <a:t>Configure your browser to use Burp as a proxy (127.0.0.1:8080).</a:t>
            </a:r>
          </a:p>
          <a:p>
            <a:endParaRPr lang="en-US" sz="2400" dirty="0"/>
          </a:p>
          <a:p>
            <a:endParaRPr lang="en-IN" dirty="0"/>
          </a:p>
        </p:txBody>
      </p:sp>
    </p:spTree>
    <p:extLst>
      <p:ext uri="{BB962C8B-B14F-4D97-AF65-F5344CB8AC3E}">
        <p14:creationId xmlns:p14="http://schemas.microsoft.com/office/powerpoint/2010/main" val="1916219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5EE5B-7ECA-2658-8B93-322BEBA495B9}"/>
              </a:ext>
            </a:extLst>
          </p:cNvPr>
          <p:cNvSpPr>
            <a:spLocks noGrp="1"/>
          </p:cNvSpPr>
          <p:nvPr>
            <p:ph type="title"/>
          </p:nvPr>
        </p:nvSpPr>
        <p:spPr>
          <a:xfrm>
            <a:off x="839788" y="457200"/>
            <a:ext cx="3932237" cy="685800"/>
          </a:xfrm>
        </p:spPr>
        <p:txBody>
          <a:bodyPr/>
          <a:lstStyle/>
          <a:p>
            <a:r>
              <a:rPr lang="en-IN" dirty="0"/>
              <a:t>Capture Login Request</a:t>
            </a:r>
          </a:p>
        </p:txBody>
      </p:sp>
      <p:pic>
        <p:nvPicPr>
          <p:cNvPr id="6" name="Content Placeholder 5">
            <a:extLst>
              <a:ext uri="{FF2B5EF4-FFF2-40B4-BE49-F238E27FC236}">
                <a16:creationId xmlns:a16="http://schemas.microsoft.com/office/drawing/2014/main" id="{3AE4CE12-6188-6258-BA3D-257FDEFDE8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7" y="643467"/>
            <a:ext cx="6763279" cy="4953000"/>
          </a:xfrm>
          <a:prstGeom prst="rect">
            <a:avLst/>
          </a:prstGeom>
        </p:spPr>
      </p:pic>
      <p:sp>
        <p:nvSpPr>
          <p:cNvPr id="4" name="Text Placeholder 3">
            <a:extLst>
              <a:ext uri="{FF2B5EF4-FFF2-40B4-BE49-F238E27FC236}">
                <a16:creationId xmlns:a16="http://schemas.microsoft.com/office/drawing/2014/main" id="{A45B2D0F-4AFD-9316-7607-E6F8414456AB}"/>
              </a:ext>
            </a:extLst>
          </p:cNvPr>
          <p:cNvSpPr>
            <a:spLocks noGrp="1"/>
          </p:cNvSpPr>
          <p:nvPr>
            <p:ph type="body" sz="half" idx="2"/>
          </p:nvPr>
        </p:nvSpPr>
        <p:spPr>
          <a:xfrm>
            <a:off x="762000" y="1651000"/>
            <a:ext cx="4010025" cy="4217988"/>
          </a:xfrm>
        </p:spPr>
        <p:txBody>
          <a:bodyPr/>
          <a:lstStyle/>
          <a:p>
            <a:pPr marL="342900" lvl="0" indent="-342900">
              <a:buFont typeface="Arial" panose="020B0604020202020204" pitchFamily="34" charset="0"/>
              <a:buChar char="•"/>
            </a:pPr>
            <a:r>
              <a:rPr lang="en-IN" dirty="0"/>
              <a:t>Open the application. </a:t>
            </a:r>
          </a:p>
          <a:p>
            <a:pPr marL="342900" lvl="0" indent="-342900">
              <a:buFont typeface="Arial" panose="020B0604020202020204" pitchFamily="34" charset="0"/>
              <a:buChar char="•"/>
            </a:pPr>
            <a:r>
              <a:rPr lang="en-IN" dirty="0"/>
              <a:t>Enter username and password. </a:t>
            </a:r>
          </a:p>
          <a:p>
            <a:pPr marL="342900" lvl="0" indent="-342900">
              <a:buFont typeface="Arial" panose="020B0604020202020204" pitchFamily="34" charset="0"/>
              <a:buChar char="•"/>
            </a:pPr>
            <a:r>
              <a:rPr lang="en-IN" dirty="0"/>
              <a:t>Click </a:t>
            </a:r>
            <a:r>
              <a:rPr lang="en-IN" b="1" dirty="0"/>
              <a:t>Login</a:t>
            </a:r>
            <a:r>
              <a:rPr lang="en-IN" dirty="0"/>
              <a:t>. </a:t>
            </a:r>
          </a:p>
          <a:p>
            <a:pPr marL="342900" lvl="0" indent="-342900">
              <a:buFont typeface="Arial" panose="020B0604020202020204" pitchFamily="34" charset="0"/>
              <a:buChar char="•"/>
            </a:pPr>
            <a:r>
              <a:rPr lang="en-IN" dirty="0"/>
              <a:t>Burp intercepts the request.</a:t>
            </a:r>
          </a:p>
          <a:p>
            <a:r>
              <a:rPr lang="en-IN" dirty="0"/>
              <a:t>        email=sheakher1000@gmail.com </a:t>
            </a:r>
          </a:p>
          <a:p>
            <a:r>
              <a:rPr lang="en-IN" dirty="0"/>
              <a:t>        password=Winter@1000</a:t>
            </a:r>
          </a:p>
          <a:p>
            <a:endParaRPr lang="en-IN" dirty="0"/>
          </a:p>
        </p:txBody>
      </p:sp>
    </p:spTree>
    <p:extLst>
      <p:ext uri="{BB962C8B-B14F-4D97-AF65-F5344CB8AC3E}">
        <p14:creationId xmlns:p14="http://schemas.microsoft.com/office/powerpoint/2010/main" val="1250935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DCD8D-2696-FE10-9886-FF1A53E28CD1}"/>
              </a:ext>
            </a:extLst>
          </p:cNvPr>
          <p:cNvSpPr>
            <a:spLocks noGrp="1"/>
          </p:cNvSpPr>
          <p:nvPr>
            <p:ph type="title"/>
          </p:nvPr>
        </p:nvSpPr>
        <p:spPr>
          <a:xfrm>
            <a:off x="839788" y="143933"/>
            <a:ext cx="3932237" cy="999067"/>
          </a:xfrm>
        </p:spPr>
        <p:txBody>
          <a:bodyPr>
            <a:normAutofit/>
          </a:bodyPr>
          <a:lstStyle/>
          <a:p>
            <a:r>
              <a:rPr lang="en-IN" sz="2400" b="1" dirty="0"/>
              <a:t>Intercepted the customer feedback post request</a:t>
            </a:r>
            <a:endParaRPr lang="en-IN" sz="2400" dirty="0"/>
          </a:p>
        </p:txBody>
      </p:sp>
      <p:pic>
        <p:nvPicPr>
          <p:cNvPr id="6" name="Content Placeholder 5">
            <a:extLst>
              <a:ext uri="{FF2B5EF4-FFF2-40B4-BE49-F238E27FC236}">
                <a16:creationId xmlns:a16="http://schemas.microsoft.com/office/drawing/2014/main" id="{ACDDC9D7-BA78-48BA-2209-7AE13B6CA1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7" y="1397000"/>
            <a:ext cx="6534679" cy="3945467"/>
          </a:xfrm>
          <a:prstGeom prst="rect">
            <a:avLst/>
          </a:prstGeom>
        </p:spPr>
      </p:pic>
      <p:sp>
        <p:nvSpPr>
          <p:cNvPr id="4" name="Text Placeholder 3">
            <a:extLst>
              <a:ext uri="{FF2B5EF4-FFF2-40B4-BE49-F238E27FC236}">
                <a16:creationId xmlns:a16="http://schemas.microsoft.com/office/drawing/2014/main" id="{A4AF8115-4BAA-4442-8620-09EA0D0F4476}"/>
              </a:ext>
            </a:extLst>
          </p:cNvPr>
          <p:cNvSpPr>
            <a:spLocks noGrp="1"/>
          </p:cNvSpPr>
          <p:nvPr>
            <p:ph type="body" sz="half" idx="2"/>
          </p:nvPr>
        </p:nvSpPr>
        <p:spPr>
          <a:xfrm>
            <a:off x="839788" y="1397001"/>
            <a:ext cx="3932237" cy="4471988"/>
          </a:xfrm>
        </p:spPr>
        <p:txBody>
          <a:bodyPr>
            <a:normAutofit fontScale="92500" lnSpcReduction="20000"/>
          </a:bodyPr>
          <a:lstStyle/>
          <a:p>
            <a:pPr marL="342900" lvl="0" indent="-342900">
              <a:buFont typeface="Arial" panose="020B0604020202020204" pitchFamily="34" charset="0"/>
              <a:buChar char="•"/>
            </a:pPr>
            <a:r>
              <a:rPr lang="en-IN" dirty="0"/>
              <a:t>Enter the following details: </a:t>
            </a:r>
          </a:p>
          <a:p>
            <a:pPr marL="742950" lvl="1" indent="-285750">
              <a:buFont typeface="Arial" panose="020B0604020202020204" pitchFamily="34" charset="0"/>
              <a:buChar char="•"/>
            </a:pPr>
            <a:r>
              <a:rPr lang="en-IN" b="1" dirty="0"/>
              <a:t>Author:</a:t>
            </a:r>
            <a:r>
              <a:rPr lang="en-IN" dirty="0"/>
              <a:t> anonymous </a:t>
            </a:r>
          </a:p>
          <a:p>
            <a:pPr marL="742950" lvl="1" indent="-285750">
              <a:buFont typeface="Arial" panose="020B0604020202020204" pitchFamily="34" charset="0"/>
              <a:buChar char="•"/>
            </a:pPr>
            <a:r>
              <a:rPr lang="en-IN" b="1" dirty="0"/>
              <a:t>Comment:</a:t>
            </a:r>
            <a:r>
              <a:rPr lang="en-IN" dirty="0"/>
              <a:t> not like the food </a:t>
            </a:r>
          </a:p>
          <a:p>
            <a:pPr marL="742950" lvl="1" indent="-285750">
              <a:buFont typeface="Arial" panose="020B0604020202020204" pitchFamily="34" charset="0"/>
              <a:buChar char="•"/>
            </a:pPr>
            <a:r>
              <a:rPr lang="en-IN" b="1" dirty="0"/>
              <a:t>Rating:</a:t>
            </a:r>
            <a:r>
              <a:rPr lang="en-IN" dirty="0"/>
              <a:t> 0 stars </a:t>
            </a:r>
          </a:p>
          <a:p>
            <a:pPr marL="742950" lvl="1" indent="-285750">
              <a:buFont typeface="Arial" panose="020B0604020202020204" pitchFamily="34" charset="0"/>
              <a:buChar char="•"/>
            </a:pPr>
            <a:r>
              <a:rPr lang="en-IN" b="1" dirty="0"/>
              <a:t>CAPTCHA:</a:t>
            </a:r>
            <a:r>
              <a:rPr lang="en-IN" dirty="0"/>
              <a:t> 16 </a:t>
            </a:r>
          </a:p>
          <a:p>
            <a:pPr marL="342900" lvl="0" indent="-342900">
              <a:buFont typeface="Arial" panose="020B0604020202020204" pitchFamily="34" charset="0"/>
              <a:buChar char="•"/>
            </a:pPr>
            <a:r>
              <a:rPr lang="en-IN" dirty="0"/>
              <a:t>Click </a:t>
            </a:r>
            <a:r>
              <a:rPr lang="en-IN" b="1" dirty="0"/>
              <a:t>Submit</a:t>
            </a:r>
            <a:r>
              <a:rPr lang="en-IN" dirty="0"/>
              <a:t>. </a:t>
            </a:r>
          </a:p>
          <a:p>
            <a:pPr marL="342900" lvl="0" indent="-342900">
              <a:buFont typeface="Arial" panose="020B0604020202020204" pitchFamily="34" charset="0"/>
              <a:buChar char="•"/>
            </a:pPr>
            <a:r>
              <a:rPr lang="en-IN" dirty="0"/>
              <a:t>Burp Suite intercepts the </a:t>
            </a:r>
            <a:r>
              <a:rPr lang="en-IN" b="1" dirty="0"/>
              <a:t>POST</a:t>
            </a:r>
            <a:r>
              <a:rPr lang="en-IN" dirty="0"/>
              <a:t> request before it reaches the server. </a:t>
            </a:r>
          </a:p>
          <a:p>
            <a:pPr marL="342900" lvl="0" indent="-342900">
              <a:buFont typeface="Arial" panose="020B0604020202020204" pitchFamily="34" charset="0"/>
              <a:buChar char="•"/>
            </a:pPr>
            <a:r>
              <a:rPr lang="en-IN" dirty="0" err="1"/>
              <a:t>Analyze</a:t>
            </a:r>
            <a:r>
              <a:rPr lang="en-IN" dirty="0"/>
              <a:t> or modify the request, then click </a:t>
            </a:r>
            <a:r>
              <a:rPr lang="en-IN" b="1" dirty="0"/>
              <a:t>Forward</a:t>
            </a:r>
            <a:r>
              <a:rPr lang="en-IN" dirty="0"/>
              <a:t> to send it to the application.</a:t>
            </a:r>
          </a:p>
          <a:p>
            <a:pPr marL="342900" lvl="0" indent="-342900">
              <a:buFont typeface="Arial" panose="020B0604020202020204" pitchFamily="34" charset="0"/>
              <a:buChar char="•"/>
            </a:pPr>
            <a:endParaRPr lang="en-IN" dirty="0"/>
          </a:p>
          <a:p>
            <a:r>
              <a:rPr lang="en-IN" dirty="0"/>
              <a:t>{</a:t>
            </a:r>
          </a:p>
          <a:p>
            <a:r>
              <a:rPr lang="en-IN" dirty="0"/>
              <a:t>  "</a:t>
            </a:r>
            <a:r>
              <a:rPr lang="en-IN" dirty="0" err="1"/>
              <a:t>captchaId</a:t>
            </a:r>
            <a:r>
              <a:rPr lang="en-IN" dirty="0"/>
              <a:t>": 2,</a:t>
            </a:r>
          </a:p>
          <a:p>
            <a:r>
              <a:rPr lang="en-IN" dirty="0"/>
              <a:t>  "captcha": "16",</a:t>
            </a:r>
          </a:p>
          <a:p>
            <a:r>
              <a:rPr lang="en-IN" dirty="0"/>
              <a:t>  "comment": "not like the food (anonymous)",</a:t>
            </a:r>
          </a:p>
          <a:p>
            <a:r>
              <a:rPr lang="en-IN" dirty="0"/>
              <a:t>  "rating": 0</a:t>
            </a:r>
          </a:p>
          <a:p>
            <a:r>
              <a:rPr lang="en-IN" dirty="0"/>
              <a:t>}</a:t>
            </a:r>
          </a:p>
          <a:p>
            <a:endParaRPr lang="en-IN" dirty="0"/>
          </a:p>
        </p:txBody>
      </p:sp>
    </p:spTree>
    <p:extLst>
      <p:ext uri="{BB962C8B-B14F-4D97-AF65-F5344CB8AC3E}">
        <p14:creationId xmlns:p14="http://schemas.microsoft.com/office/powerpoint/2010/main" val="2059110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6F43A9-F20B-9C22-B048-9739BE684A4A}"/>
              </a:ext>
            </a:extLst>
          </p:cNvPr>
          <p:cNvSpPr>
            <a:spLocks noGrp="1"/>
          </p:cNvSpPr>
          <p:nvPr>
            <p:ph type="body" idx="1"/>
          </p:nvPr>
        </p:nvSpPr>
        <p:spPr>
          <a:xfrm>
            <a:off x="567267" y="186267"/>
            <a:ext cx="10780183" cy="5903383"/>
          </a:xfrm>
        </p:spPr>
        <p:txBody>
          <a:bodyPr>
            <a:normAutofit/>
          </a:bodyPr>
          <a:lstStyle/>
          <a:p>
            <a:pPr>
              <a:buNone/>
            </a:pPr>
            <a:r>
              <a:rPr lang="en-IN" b="1" dirty="0">
                <a:solidFill>
                  <a:schemeClr val="tx1"/>
                </a:solidFill>
              </a:rPr>
              <a:t>Observation</a:t>
            </a:r>
          </a:p>
          <a:p>
            <a:pPr marL="342900" lvl="0" indent="-342900">
              <a:buFont typeface="Arial" panose="020B0604020202020204" pitchFamily="34" charset="0"/>
              <a:buChar char="•"/>
            </a:pPr>
            <a:r>
              <a:rPr lang="en-IN" sz="1400" dirty="0">
                <a:solidFill>
                  <a:schemeClr val="tx1"/>
                </a:solidFill>
              </a:rPr>
              <a:t>Burp Suite successfully intercepted the feedback submission request. </a:t>
            </a:r>
          </a:p>
          <a:p>
            <a:pPr marL="342900" lvl="0" indent="-342900">
              <a:buFont typeface="Arial" panose="020B0604020202020204" pitchFamily="34" charset="0"/>
              <a:buChar char="•"/>
            </a:pPr>
            <a:r>
              <a:rPr lang="en-IN" sz="1400" dirty="0">
                <a:solidFill>
                  <a:schemeClr val="tx1"/>
                </a:solidFill>
              </a:rPr>
              <a:t>The request uses the </a:t>
            </a:r>
            <a:r>
              <a:rPr lang="en-IN" sz="1400" b="1" dirty="0">
                <a:solidFill>
                  <a:schemeClr val="tx1"/>
                </a:solidFill>
              </a:rPr>
              <a:t>HTTP POST</a:t>
            </a:r>
            <a:r>
              <a:rPr lang="en-IN" sz="1400" dirty="0">
                <a:solidFill>
                  <a:schemeClr val="tx1"/>
                </a:solidFill>
              </a:rPr>
              <a:t> method. </a:t>
            </a:r>
          </a:p>
          <a:p>
            <a:pPr marL="342900" lvl="0" indent="-342900">
              <a:buFont typeface="Arial" panose="020B0604020202020204" pitchFamily="34" charset="0"/>
              <a:buChar char="•"/>
            </a:pPr>
            <a:r>
              <a:rPr lang="en-IN" sz="1400" dirty="0">
                <a:solidFill>
                  <a:schemeClr val="tx1"/>
                </a:solidFill>
              </a:rPr>
              <a:t>The feedback data is transmitted in </a:t>
            </a:r>
            <a:r>
              <a:rPr lang="en-IN" sz="1400" b="1" dirty="0">
                <a:solidFill>
                  <a:schemeClr val="tx1"/>
                </a:solidFill>
              </a:rPr>
              <a:t>JSON</a:t>
            </a:r>
            <a:r>
              <a:rPr lang="en-IN" sz="1400" dirty="0">
                <a:solidFill>
                  <a:schemeClr val="tx1"/>
                </a:solidFill>
              </a:rPr>
              <a:t> format. </a:t>
            </a:r>
          </a:p>
          <a:p>
            <a:pPr marL="342900" lvl="0" indent="-342900">
              <a:buFont typeface="Arial" panose="020B0604020202020204" pitchFamily="34" charset="0"/>
              <a:buChar char="•"/>
            </a:pPr>
            <a:r>
              <a:rPr lang="en-IN" sz="1400" dirty="0">
                <a:solidFill>
                  <a:schemeClr val="tx1"/>
                </a:solidFill>
              </a:rPr>
              <a:t>The request can be inspected and modified before being forwarded to the server. </a:t>
            </a:r>
          </a:p>
          <a:p>
            <a:pPr marL="342900" lvl="0" indent="-342900">
              <a:buFont typeface="Arial" panose="020B0604020202020204" pitchFamily="34" charset="0"/>
              <a:buChar char="•"/>
            </a:pPr>
            <a:r>
              <a:rPr lang="en-IN" sz="1400" dirty="0">
                <a:solidFill>
                  <a:schemeClr val="tx1"/>
                </a:solidFill>
              </a:rPr>
              <a:t>This helps verify whether the application performs proper server-side input validation.</a:t>
            </a:r>
          </a:p>
          <a:p>
            <a:pPr>
              <a:buNone/>
            </a:pPr>
            <a:r>
              <a:rPr lang="en-IN" b="1" dirty="0">
                <a:solidFill>
                  <a:schemeClr val="tx1"/>
                </a:solidFill>
              </a:rPr>
              <a:t>Security Testing Purpose</a:t>
            </a:r>
          </a:p>
          <a:p>
            <a:pPr marL="342900" lvl="0" indent="-342900">
              <a:buFont typeface="Arial" panose="020B0604020202020204" pitchFamily="34" charset="0"/>
              <a:buChar char="•"/>
            </a:pPr>
            <a:r>
              <a:rPr lang="en-IN" sz="1400" dirty="0">
                <a:solidFill>
                  <a:schemeClr val="tx1"/>
                </a:solidFill>
              </a:rPr>
              <a:t>Intercept HTTP requests </a:t>
            </a:r>
          </a:p>
          <a:p>
            <a:pPr marL="342900" lvl="0" indent="-342900">
              <a:buFont typeface="Arial" panose="020B0604020202020204" pitchFamily="34" charset="0"/>
              <a:buChar char="•"/>
            </a:pPr>
            <a:r>
              <a:rPr lang="en-IN" sz="1400" dirty="0" err="1">
                <a:solidFill>
                  <a:schemeClr val="tx1"/>
                </a:solidFill>
              </a:rPr>
              <a:t>Analyze</a:t>
            </a:r>
            <a:r>
              <a:rPr lang="en-IN" sz="1400" dirty="0">
                <a:solidFill>
                  <a:schemeClr val="tx1"/>
                </a:solidFill>
              </a:rPr>
              <a:t> request headers and body </a:t>
            </a:r>
          </a:p>
          <a:p>
            <a:pPr marL="342900" lvl="0" indent="-342900">
              <a:buFont typeface="Arial" panose="020B0604020202020204" pitchFamily="34" charset="0"/>
              <a:buChar char="•"/>
            </a:pPr>
            <a:r>
              <a:rPr lang="en-IN" sz="1400" dirty="0">
                <a:solidFill>
                  <a:schemeClr val="tx1"/>
                </a:solidFill>
              </a:rPr>
              <a:t>Test server-side input validation </a:t>
            </a:r>
          </a:p>
          <a:p>
            <a:pPr marL="342900" lvl="0" indent="-342900">
              <a:buFont typeface="Arial" panose="020B0604020202020204" pitchFamily="34" charset="0"/>
              <a:buChar char="•"/>
            </a:pPr>
            <a:r>
              <a:rPr lang="en-IN" sz="1400" dirty="0">
                <a:solidFill>
                  <a:schemeClr val="tx1"/>
                </a:solidFill>
              </a:rPr>
              <a:t>Verify parameter handling </a:t>
            </a:r>
          </a:p>
          <a:p>
            <a:pPr marL="342900" lvl="0" indent="-342900">
              <a:buFont typeface="Arial" panose="020B0604020202020204" pitchFamily="34" charset="0"/>
              <a:buChar char="•"/>
            </a:pPr>
            <a:r>
              <a:rPr lang="en-IN" sz="1400" dirty="0">
                <a:solidFill>
                  <a:schemeClr val="tx1"/>
                </a:solidFill>
              </a:rPr>
              <a:t>Understand client-server communication</a:t>
            </a:r>
          </a:p>
          <a:p>
            <a:pPr lvl="0"/>
            <a:r>
              <a:rPr lang="en-US" dirty="0">
                <a:solidFill>
                  <a:schemeClr val="tx1"/>
                </a:solidFill>
              </a:rPr>
              <a:t>Result</a:t>
            </a:r>
          </a:p>
          <a:p>
            <a:pPr marL="342900" lvl="0" indent="-342900">
              <a:buFont typeface="Arial" panose="020B0604020202020204" pitchFamily="34" charset="0"/>
              <a:buChar char="•"/>
            </a:pPr>
            <a:r>
              <a:rPr lang="en-US" sz="1400" dirty="0">
                <a:solidFill>
                  <a:schemeClr val="tx1"/>
                </a:solidFill>
              </a:rPr>
              <a:t>Customer Feedback Request was successfully intercepted through the use of Burp Suite. The HTTP POST request with feedback details was captured, highlighting the use of Burp Suite to analyze web application traffic and validate user input.</a:t>
            </a:r>
            <a:endParaRPr lang="en-IN" sz="1400" dirty="0">
              <a:solidFill>
                <a:schemeClr val="tx1"/>
              </a:solidFill>
            </a:endParaRPr>
          </a:p>
          <a:p>
            <a:endParaRPr lang="en-IN" dirty="0"/>
          </a:p>
        </p:txBody>
      </p:sp>
    </p:spTree>
    <p:extLst>
      <p:ext uri="{BB962C8B-B14F-4D97-AF65-F5344CB8AC3E}">
        <p14:creationId xmlns:p14="http://schemas.microsoft.com/office/powerpoint/2010/main" val="3254955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FD45E-FB71-10F6-103F-8D75E4D5D6C6}"/>
              </a:ext>
            </a:extLst>
          </p:cNvPr>
          <p:cNvSpPr>
            <a:spLocks noGrp="1"/>
          </p:cNvSpPr>
          <p:nvPr>
            <p:ph type="title"/>
          </p:nvPr>
        </p:nvSpPr>
        <p:spPr>
          <a:xfrm>
            <a:off x="651933" y="279401"/>
            <a:ext cx="4216399" cy="558800"/>
          </a:xfrm>
        </p:spPr>
        <p:txBody>
          <a:bodyPr>
            <a:normAutofit fontScale="90000"/>
          </a:bodyPr>
          <a:lstStyle/>
          <a:p>
            <a:r>
              <a:rPr lang="en-US" dirty="0"/>
              <a:t>OWASP Ten Vulnerabilities</a:t>
            </a:r>
            <a:endParaRPr lang="en-IN" dirty="0"/>
          </a:p>
        </p:txBody>
      </p:sp>
      <p:pic>
        <p:nvPicPr>
          <p:cNvPr id="6" name="Content Placeholder 5">
            <a:extLst>
              <a:ext uri="{FF2B5EF4-FFF2-40B4-BE49-F238E27FC236}">
                <a16:creationId xmlns:a16="http://schemas.microsoft.com/office/drawing/2014/main" id="{B8337352-BC7F-6225-9039-D069527230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56952" y="558801"/>
            <a:ext cx="3585136" cy="2113978"/>
          </a:xfrm>
          <a:prstGeom prst="rect">
            <a:avLst/>
          </a:prstGeom>
        </p:spPr>
      </p:pic>
      <p:sp>
        <p:nvSpPr>
          <p:cNvPr id="4" name="Text Placeholder 3">
            <a:extLst>
              <a:ext uri="{FF2B5EF4-FFF2-40B4-BE49-F238E27FC236}">
                <a16:creationId xmlns:a16="http://schemas.microsoft.com/office/drawing/2014/main" id="{1A32BD7C-3020-BDEE-9976-7230A1BFD1C6}"/>
              </a:ext>
            </a:extLst>
          </p:cNvPr>
          <p:cNvSpPr>
            <a:spLocks noGrp="1"/>
          </p:cNvSpPr>
          <p:nvPr>
            <p:ph type="body" sz="half" idx="2"/>
          </p:nvPr>
        </p:nvSpPr>
        <p:spPr>
          <a:xfrm>
            <a:off x="839788" y="995363"/>
            <a:ext cx="3932237" cy="4873625"/>
          </a:xfrm>
        </p:spPr>
        <p:txBody>
          <a:bodyPr>
            <a:normAutofit/>
          </a:bodyPr>
          <a:lstStyle/>
          <a:p>
            <a:r>
              <a:rPr lang="en-IN" dirty="0"/>
              <a:t>1 .Score Board</a:t>
            </a:r>
          </a:p>
          <a:p>
            <a:r>
              <a:rPr lang="en-IN" dirty="0"/>
              <a:t>Find the carefully hidden 'Score Board' page.</a:t>
            </a:r>
          </a:p>
          <a:p>
            <a:r>
              <a:rPr lang="en-IN" dirty="0"/>
              <a:t>2.DOM XSS</a:t>
            </a:r>
          </a:p>
          <a:p>
            <a:r>
              <a:rPr lang="en-IN" dirty="0"/>
              <a:t>Perform a </a:t>
            </a:r>
            <a:r>
              <a:rPr lang="en-IN" i="1" dirty="0"/>
              <a:t>DOM</a:t>
            </a:r>
            <a:r>
              <a:rPr lang="en-IN" dirty="0"/>
              <a:t> XSS attack with &lt;</a:t>
            </a:r>
            <a:r>
              <a:rPr lang="en-IN" dirty="0" err="1"/>
              <a:t>iframe</a:t>
            </a:r>
            <a:r>
              <a:rPr lang="en-IN" dirty="0"/>
              <a:t> </a:t>
            </a:r>
            <a:r>
              <a:rPr lang="en-IN" dirty="0" err="1"/>
              <a:t>src</a:t>
            </a:r>
            <a:r>
              <a:rPr lang="en-IN" dirty="0"/>
              <a:t>="</a:t>
            </a:r>
            <a:r>
              <a:rPr lang="en-IN" dirty="0" err="1"/>
              <a:t>javascript:alert</a:t>
            </a:r>
            <a:r>
              <a:rPr lang="en-IN" dirty="0"/>
              <a:t>(`</a:t>
            </a:r>
            <a:r>
              <a:rPr lang="en-IN" dirty="0" err="1"/>
              <a:t>xss</a:t>
            </a:r>
            <a:r>
              <a:rPr lang="en-IN" dirty="0"/>
              <a:t>`)"&gt;.</a:t>
            </a:r>
          </a:p>
          <a:p>
            <a:r>
              <a:rPr lang="en-IN" dirty="0"/>
              <a:t>3.XSS</a:t>
            </a:r>
          </a:p>
          <a:p>
            <a:r>
              <a:rPr lang="en-IN" dirty="0"/>
              <a:t>Use the bonus payload &lt;</a:t>
            </a:r>
            <a:r>
              <a:rPr lang="en-IN" dirty="0" err="1"/>
              <a:t>iframe</a:t>
            </a:r>
            <a:r>
              <a:rPr lang="en-IN" dirty="0"/>
              <a:t> width="100%" height="166" scrolling="no" frameborder="no" allow="autoplay" </a:t>
            </a:r>
            <a:r>
              <a:rPr lang="en-IN" dirty="0" err="1"/>
              <a:t>src</a:t>
            </a:r>
            <a:r>
              <a:rPr lang="en-IN" dirty="0"/>
              <a:t>="https://w.soundcloud.com/player/?</a:t>
            </a:r>
            <a:r>
              <a:rPr lang="en-IN" dirty="0" err="1"/>
              <a:t>url</a:t>
            </a:r>
            <a:r>
              <a:rPr lang="en-IN" dirty="0"/>
              <a:t>=https%3A//api.soundcloud.com/tracks/771984076&amp;co</a:t>
            </a:r>
          </a:p>
          <a:p>
            <a:r>
              <a:rPr lang="en-IN" dirty="0"/>
              <a:t>4.Privacy Policy</a:t>
            </a:r>
          </a:p>
          <a:p>
            <a:r>
              <a:rPr lang="en-IN" dirty="0"/>
              <a:t>Read our privacy policy.</a:t>
            </a:r>
          </a:p>
          <a:p>
            <a:endParaRPr lang="en-IN" dirty="0"/>
          </a:p>
          <a:p>
            <a:endParaRPr lang="en-IN" dirty="0"/>
          </a:p>
          <a:p>
            <a:endParaRPr lang="en-IN" dirty="0"/>
          </a:p>
        </p:txBody>
      </p:sp>
      <p:pic>
        <p:nvPicPr>
          <p:cNvPr id="8" name="Picture 7">
            <a:extLst>
              <a:ext uri="{FF2B5EF4-FFF2-40B4-BE49-F238E27FC236}">
                <a16:creationId xmlns:a16="http://schemas.microsoft.com/office/drawing/2014/main" id="{4DB28993-EB30-31E7-21E5-24492111F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0708" y="558801"/>
            <a:ext cx="3505775" cy="2113978"/>
          </a:xfrm>
          <a:prstGeom prst="rect">
            <a:avLst/>
          </a:prstGeom>
        </p:spPr>
      </p:pic>
      <p:pic>
        <p:nvPicPr>
          <p:cNvPr id="10" name="Picture 9">
            <a:extLst>
              <a:ext uri="{FF2B5EF4-FFF2-40B4-BE49-F238E27FC236}">
                <a16:creationId xmlns:a16="http://schemas.microsoft.com/office/drawing/2014/main" id="{9B451B5F-B905-C9E5-8BF7-69105B7462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9265" y="3126887"/>
            <a:ext cx="3585136" cy="1859979"/>
          </a:xfrm>
          <a:prstGeom prst="rect">
            <a:avLst/>
          </a:prstGeom>
        </p:spPr>
      </p:pic>
      <p:pic>
        <p:nvPicPr>
          <p:cNvPr id="12" name="Picture 11">
            <a:extLst>
              <a:ext uri="{FF2B5EF4-FFF2-40B4-BE49-F238E27FC236}">
                <a16:creationId xmlns:a16="http://schemas.microsoft.com/office/drawing/2014/main" id="{FB07E7D3-7758-280E-4305-07DD37E9E2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0708" y="3126887"/>
            <a:ext cx="3505775" cy="1859979"/>
          </a:xfrm>
          <a:prstGeom prst="rect">
            <a:avLst/>
          </a:prstGeom>
        </p:spPr>
      </p:pic>
    </p:spTree>
    <p:extLst>
      <p:ext uri="{BB962C8B-B14F-4D97-AF65-F5344CB8AC3E}">
        <p14:creationId xmlns:p14="http://schemas.microsoft.com/office/powerpoint/2010/main" val="1237334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4CF07BE-97D0-0E7C-7091-60512AFFE1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2025" y="152400"/>
            <a:ext cx="4513787" cy="2108200"/>
          </a:xfrm>
          <a:prstGeom prst="rect">
            <a:avLst/>
          </a:prstGeom>
        </p:spPr>
      </p:pic>
      <p:sp>
        <p:nvSpPr>
          <p:cNvPr id="4" name="Text Placeholder 3">
            <a:extLst>
              <a:ext uri="{FF2B5EF4-FFF2-40B4-BE49-F238E27FC236}">
                <a16:creationId xmlns:a16="http://schemas.microsoft.com/office/drawing/2014/main" id="{FEED38C1-EC8E-B9B0-1D03-16494E47F834}"/>
              </a:ext>
            </a:extLst>
          </p:cNvPr>
          <p:cNvSpPr>
            <a:spLocks noGrp="1"/>
          </p:cNvSpPr>
          <p:nvPr>
            <p:ph type="body" sz="half" idx="2"/>
          </p:nvPr>
        </p:nvSpPr>
        <p:spPr>
          <a:xfrm>
            <a:off x="839788" y="152400"/>
            <a:ext cx="3932237" cy="5716588"/>
          </a:xfrm>
        </p:spPr>
        <p:txBody>
          <a:bodyPr/>
          <a:lstStyle/>
          <a:p>
            <a:r>
              <a:rPr lang="en-IN" b="1" dirty="0"/>
              <a:t>5.Sensitive Data Exposure</a:t>
            </a:r>
            <a:endParaRPr lang="en-IN" dirty="0"/>
          </a:p>
          <a:p>
            <a:r>
              <a:rPr lang="en-IN" b="1" dirty="0"/>
              <a:t>Confidential Document</a:t>
            </a:r>
            <a:endParaRPr lang="en-IN" dirty="0"/>
          </a:p>
          <a:p>
            <a:r>
              <a:rPr lang="en-IN" dirty="0"/>
              <a:t>Access a confidential document.</a:t>
            </a:r>
          </a:p>
          <a:p>
            <a:r>
              <a:rPr lang="en-IN" dirty="0"/>
              <a:t>6.</a:t>
            </a:r>
            <a:r>
              <a:rPr lang="en-IN" b="1" dirty="0"/>
              <a:t> Security Misconfiguration</a:t>
            </a:r>
            <a:endParaRPr lang="en-IN" dirty="0"/>
          </a:p>
          <a:p>
            <a:r>
              <a:rPr lang="en-IN" b="1" dirty="0"/>
              <a:t>Error Handling</a:t>
            </a:r>
            <a:endParaRPr lang="en-IN" dirty="0"/>
          </a:p>
          <a:p>
            <a:r>
              <a:rPr lang="en-IN" dirty="0"/>
              <a:t>Provoke an error that is neither very gracefully nor consistently handled.</a:t>
            </a:r>
          </a:p>
          <a:p>
            <a:r>
              <a:rPr lang="en-IN" dirty="0"/>
              <a:t>7.</a:t>
            </a:r>
            <a:r>
              <a:rPr lang="en-IN" b="1" dirty="0"/>
              <a:t> Improper Input Validation</a:t>
            </a:r>
            <a:endParaRPr lang="en-IN" dirty="0"/>
          </a:p>
          <a:p>
            <a:r>
              <a:rPr lang="en-IN" b="1" dirty="0"/>
              <a:t>Zero Stars</a:t>
            </a:r>
            <a:endParaRPr lang="en-IN" dirty="0"/>
          </a:p>
          <a:p>
            <a:r>
              <a:rPr lang="en-IN" dirty="0"/>
              <a:t>Give a devastating zero-star feedback to the store.</a:t>
            </a:r>
          </a:p>
          <a:p>
            <a:endParaRPr lang="en-IN" dirty="0"/>
          </a:p>
          <a:p>
            <a:endParaRPr lang="en-IN" dirty="0"/>
          </a:p>
        </p:txBody>
      </p:sp>
      <p:pic>
        <p:nvPicPr>
          <p:cNvPr id="8" name="Picture 7">
            <a:extLst>
              <a:ext uri="{FF2B5EF4-FFF2-40B4-BE49-F238E27FC236}">
                <a16:creationId xmlns:a16="http://schemas.microsoft.com/office/drawing/2014/main" id="{3FDD17B1-E645-D144-772C-F08D478509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0485" y="2260600"/>
            <a:ext cx="4109248" cy="2108200"/>
          </a:xfrm>
          <a:prstGeom prst="rect">
            <a:avLst/>
          </a:prstGeom>
        </p:spPr>
      </p:pic>
      <p:pic>
        <p:nvPicPr>
          <p:cNvPr id="10" name="Picture 9">
            <a:extLst>
              <a:ext uri="{FF2B5EF4-FFF2-40B4-BE49-F238E27FC236}">
                <a16:creationId xmlns:a16="http://schemas.microsoft.com/office/drawing/2014/main" id="{FD5364FB-6347-BBE2-350A-EC82C905DE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2025" y="4368800"/>
            <a:ext cx="3701691" cy="2233581"/>
          </a:xfrm>
          <a:prstGeom prst="rect">
            <a:avLst/>
          </a:prstGeom>
        </p:spPr>
      </p:pic>
    </p:spTree>
    <p:extLst>
      <p:ext uri="{BB962C8B-B14F-4D97-AF65-F5344CB8AC3E}">
        <p14:creationId xmlns:p14="http://schemas.microsoft.com/office/powerpoint/2010/main" val="1470711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2662A6F-B452-C439-748A-3FFFCE92F5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2025" y="0"/>
            <a:ext cx="4304242" cy="2301222"/>
          </a:xfrm>
          <a:prstGeom prst="rect">
            <a:avLst/>
          </a:prstGeom>
        </p:spPr>
      </p:pic>
      <p:sp>
        <p:nvSpPr>
          <p:cNvPr id="4" name="Text Placeholder 3">
            <a:extLst>
              <a:ext uri="{FF2B5EF4-FFF2-40B4-BE49-F238E27FC236}">
                <a16:creationId xmlns:a16="http://schemas.microsoft.com/office/drawing/2014/main" id="{CC4A9F36-1A56-9397-71E3-A0FF64424063}"/>
              </a:ext>
            </a:extLst>
          </p:cNvPr>
          <p:cNvSpPr>
            <a:spLocks noGrp="1"/>
          </p:cNvSpPr>
          <p:nvPr>
            <p:ph type="body" sz="half" idx="2"/>
          </p:nvPr>
        </p:nvSpPr>
        <p:spPr>
          <a:xfrm>
            <a:off x="839788" y="135467"/>
            <a:ext cx="3932237" cy="5733521"/>
          </a:xfrm>
        </p:spPr>
        <p:txBody>
          <a:bodyPr/>
          <a:lstStyle/>
          <a:p>
            <a:r>
              <a:rPr lang="en-IN" dirty="0"/>
              <a:t>8.Improper Input Validation</a:t>
            </a:r>
          </a:p>
          <a:p>
            <a:r>
              <a:rPr lang="en-IN" dirty="0"/>
              <a:t>Missing Encoding</a:t>
            </a:r>
          </a:p>
          <a:p>
            <a:r>
              <a:rPr lang="en-IN" dirty="0"/>
              <a:t>Retrieve the photo of Bjoern's cat in "melee combat-mode".</a:t>
            </a:r>
          </a:p>
          <a:p>
            <a:r>
              <a:rPr lang="en-IN" dirty="0"/>
              <a:t>9. Unvalidated Redirects</a:t>
            </a:r>
          </a:p>
          <a:p>
            <a:r>
              <a:rPr lang="en-IN" dirty="0"/>
              <a:t>Outdated Allowlist</a:t>
            </a:r>
          </a:p>
          <a:p>
            <a:r>
              <a:rPr lang="en-IN" dirty="0"/>
              <a:t>Let us redirect you to one of our crypto currency addresses which are not promoted any longer.</a:t>
            </a:r>
          </a:p>
          <a:p>
            <a:r>
              <a:rPr lang="en-IN" dirty="0"/>
              <a:t>10. Improper Input Validation</a:t>
            </a:r>
          </a:p>
          <a:p>
            <a:r>
              <a:rPr lang="en-IN" dirty="0"/>
              <a:t>Repetitive Registration</a:t>
            </a:r>
          </a:p>
          <a:p>
            <a:r>
              <a:rPr lang="en-IN" dirty="0"/>
              <a:t>Follow the DRY principle while registering a user.</a:t>
            </a:r>
          </a:p>
          <a:p>
            <a:endParaRPr lang="en-IN" dirty="0"/>
          </a:p>
          <a:p>
            <a:endParaRPr lang="en-IN" dirty="0"/>
          </a:p>
          <a:p>
            <a:endParaRPr lang="en-IN" dirty="0"/>
          </a:p>
        </p:txBody>
      </p:sp>
      <p:pic>
        <p:nvPicPr>
          <p:cNvPr id="8" name="Picture 7">
            <a:extLst>
              <a:ext uri="{FF2B5EF4-FFF2-40B4-BE49-F238E27FC236}">
                <a16:creationId xmlns:a16="http://schemas.microsoft.com/office/drawing/2014/main" id="{6A1B166F-3AE0-2DEA-820A-EF30896AB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0200" y="2301223"/>
            <a:ext cx="4241800" cy="2352246"/>
          </a:xfrm>
          <a:prstGeom prst="rect">
            <a:avLst/>
          </a:prstGeom>
        </p:spPr>
      </p:pic>
      <p:pic>
        <p:nvPicPr>
          <p:cNvPr id="10" name="Picture 9">
            <a:extLst>
              <a:ext uri="{FF2B5EF4-FFF2-40B4-BE49-F238E27FC236}">
                <a16:creationId xmlns:a16="http://schemas.microsoft.com/office/drawing/2014/main" id="{77B84884-F6D5-1C4D-8334-6F62A07202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3252" y="4653469"/>
            <a:ext cx="4383015" cy="2219345"/>
          </a:xfrm>
          <a:prstGeom prst="rect">
            <a:avLst/>
          </a:prstGeom>
        </p:spPr>
      </p:pic>
    </p:spTree>
    <p:extLst>
      <p:ext uri="{BB962C8B-B14F-4D97-AF65-F5344CB8AC3E}">
        <p14:creationId xmlns:p14="http://schemas.microsoft.com/office/powerpoint/2010/main" val="3082809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5C431-07D2-C3CA-DE88-3598F8DF21E4}"/>
              </a:ext>
            </a:extLst>
          </p:cNvPr>
          <p:cNvSpPr>
            <a:spLocks noGrp="1"/>
          </p:cNvSpPr>
          <p:nvPr>
            <p:ph type="title"/>
          </p:nvPr>
        </p:nvSpPr>
        <p:spPr>
          <a:xfrm>
            <a:off x="702734" y="0"/>
            <a:ext cx="9186334" cy="1500187"/>
          </a:xfrm>
        </p:spPr>
        <p:txBody>
          <a:bodyPr/>
          <a:lstStyle/>
          <a:p>
            <a:r>
              <a:rPr lang="en-IN" sz="3200" dirty="0">
                <a:solidFill>
                  <a:srgbClr val="1F2937"/>
                </a:solidFill>
                <a:latin typeface="Inter"/>
              </a:rPr>
              <a:t>Conclusion</a:t>
            </a:r>
            <a:br>
              <a:rPr lang="en-IN" dirty="0">
                <a:solidFill>
                  <a:srgbClr val="1F2937"/>
                </a:solidFill>
                <a:latin typeface="Inter"/>
              </a:rPr>
            </a:br>
            <a:endParaRPr lang="en-IN" dirty="0"/>
          </a:p>
        </p:txBody>
      </p:sp>
      <p:sp>
        <p:nvSpPr>
          <p:cNvPr id="3" name="Text Placeholder 2">
            <a:extLst>
              <a:ext uri="{FF2B5EF4-FFF2-40B4-BE49-F238E27FC236}">
                <a16:creationId xmlns:a16="http://schemas.microsoft.com/office/drawing/2014/main" id="{5CD27E53-DFA8-38E4-560E-023E4EC0AB32}"/>
              </a:ext>
            </a:extLst>
          </p:cNvPr>
          <p:cNvSpPr>
            <a:spLocks noGrp="1"/>
          </p:cNvSpPr>
          <p:nvPr>
            <p:ph type="body" idx="1"/>
          </p:nvPr>
        </p:nvSpPr>
        <p:spPr>
          <a:xfrm>
            <a:off x="778934" y="965200"/>
            <a:ext cx="10568516" cy="5124451"/>
          </a:xfrm>
        </p:spPr>
        <p:txBody>
          <a:bodyPr>
            <a:normAutofit/>
          </a:bodyPr>
          <a:lstStyle/>
          <a:p>
            <a:pPr marL="0" marR="0" indent="0" algn="l">
              <a:buNone/>
            </a:pPr>
            <a:r>
              <a:rPr lang="en-IN" sz="1600" b="0" i="0" dirty="0">
                <a:solidFill>
                  <a:srgbClr val="1F2937"/>
                </a:solidFill>
                <a:effectLst/>
                <a:latin typeface="Inter"/>
              </a:rPr>
              <a:t>The security audit of OWASP Juice Shop helped in the identification and analysis of several typical web application security vulnerabilities. The systematic testing of the application using reconnaissance, application mapping, authentication and session testing, input validation testing, and vulnerability assessment, was aided by tools such as Kali Linux, Burp Suite, OWASP ZAP, and Nmap.</a:t>
            </a:r>
          </a:p>
          <a:p>
            <a:pPr marL="0" marR="0" indent="0" algn="l">
              <a:buNone/>
            </a:pPr>
            <a:r>
              <a:rPr lang="en-IN" sz="1600" b="0" i="0" dirty="0">
                <a:solidFill>
                  <a:srgbClr val="1F2937"/>
                </a:solidFill>
                <a:effectLst/>
                <a:latin typeface="Inter"/>
              </a:rPr>
              <a:t>The assessment recognized multiple vulnerabilities that coincide with the OWASP Top 10. They included broken authentication, lack of input validation, broken session management, and several other web security concerns, which the application developers purposely added. For every problem that was recognized, the potential impact and method of exploitation and the risk associated with it were studied.</a:t>
            </a:r>
          </a:p>
          <a:p>
            <a:pPr marL="0" marR="0" indent="0" algn="l">
              <a:buNone/>
            </a:pPr>
            <a:r>
              <a:rPr lang="en-IN" sz="1600" b="0" i="0" dirty="0">
                <a:solidFill>
                  <a:srgbClr val="1F2937"/>
                </a:solidFill>
                <a:effectLst/>
                <a:latin typeface="Inter"/>
              </a:rPr>
              <a:t>For each recognized vulnerability, a proposed solution was offered. This included coding the application in a secure manner and validating and sanitizing the user inputs, as well as strengthening the authentication and session management, applying the principle of least privilege, and frequent security testing during all phases of the software development lifecycle.</a:t>
            </a:r>
          </a:p>
          <a:p>
            <a:pPr marL="0" marR="0" indent="0" algn="l">
              <a:buNone/>
            </a:pPr>
            <a:r>
              <a:rPr lang="en-IN" sz="1600" b="0" i="0" dirty="0">
                <a:solidFill>
                  <a:srgbClr val="1F2937"/>
                </a:solidFill>
                <a:effectLst/>
                <a:latin typeface="Inter"/>
              </a:rPr>
              <a:t>Overall, the project both illustrates and encapsulates the benefits which the security testing of an application, before it is deployed, provides. It offers a wealth of knowledge and experience that can be the basis for the testing of other applications and for the implementation of security measures</a:t>
            </a:r>
          </a:p>
          <a:p>
            <a:endParaRPr lang="en-IN" dirty="0"/>
          </a:p>
        </p:txBody>
      </p:sp>
    </p:spTree>
    <p:extLst>
      <p:ext uri="{BB962C8B-B14F-4D97-AF65-F5344CB8AC3E}">
        <p14:creationId xmlns:p14="http://schemas.microsoft.com/office/powerpoint/2010/main" val="493216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1253</Words>
  <Application>Microsoft Office PowerPoint</Application>
  <PresentationFormat>Widescreen</PresentationFormat>
  <Paragraphs>161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Cambria</vt:lpstr>
      <vt:lpstr>Courier New</vt:lpstr>
      <vt:lpstr>Inter</vt:lpstr>
      <vt:lpstr>Office Theme</vt:lpstr>
      <vt:lpstr>Security assessment of OWASP Juice Shop</vt:lpstr>
      <vt:lpstr>Index </vt:lpstr>
      <vt:lpstr>Reconnaissance and application mapping</vt:lpstr>
      <vt:lpstr>Reconnaissance and Application Mapping using Nmap (OWASP Juice Shop)</vt:lpstr>
      <vt:lpstr>PowerPoint Presentation</vt:lpstr>
      <vt:lpstr>Conclusion</vt:lpstr>
      <vt:lpstr>Authentication and session /Input validation testing </vt:lpstr>
      <vt:lpstr>Capture Login Request</vt:lpstr>
      <vt:lpstr>Intercepted the customer feedback post request</vt:lpstr>
      <vt:lpstr>PowerPoint Presentation</vt:lpstr>
      <vt:lpstr>OWASP Ten Vulnerabilities</vt:lpstr>
      <vt:lpstr>PowerPoint Presentation</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shekhar</dc:creator>
  <cp:lastModifiedBy>Aditya shekhar</cp:lastModifiedBy>
  <cp:revision>6</cp:revision>
  <dcterms:created xsi:type="dcterms:W3CDTF">2026-07-29T18:56:22Z</dcterms:created>
  <dcterms:modified xsi:type="dcterms:W3CDTF">2026-07-30T18:30:49Z</dcterms:modified>
</cp:coreProperties>
</file>